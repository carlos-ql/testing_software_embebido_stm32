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1" r:id="rId27"/>
    <p:sldId id="282" r:id="rId28"/>
    <p:sldId id="268" r:id="rId13"/>
    <p:sldId id="269" r:id="rId14"/>
    <p:sldId id="280" r:id="rId26"/>
    <p:sldId id="278" r:id="rId17"/>
    <p:sldId id="279" r:id="rId18"/>
    <p:sldId id="275" r:id="rId19"/>
    <p:sldId id="276" r:id="rId20"/>
    <p:sldId id="271" r:id="rId16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20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4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976A0D-00B4-4BBE-BDD9-75697F2EAC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37F1B3-D6BE-4B6C-8392-E7EE33EC4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79C7F2-2FCA-43F9-98BF-DB23CCF5C3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13199-0E87-4B97-85C7-C7F9CEF29F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2A4EC4-3626-49B5-9D1E-38F72E35C6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0E931B-61B8-455E-9041-9CD90C78F0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04EDC4-8AFC-47E5-B36F-A4A835A586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4938C8-1619-4A92-819E-D43ACC7740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73F773-C1BD-42FB-B726-9A3BD60520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9E591F-2F8A-4541-980C-0AB2161B79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F8CBFF-1778-4329-89D0-F4DDF515EE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8208F6-3B1A-4A71-A63F-F887A53CC0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Planificación y ejecución de pruebas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Sistema embebido de control de temperatura · STM32F446RE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01 / 21</a:t>
            </a:r>
          </a:p>
        </p:txBody>
      </p:sp>
      <p:sp>
        <p:nvSpPr>
          <p:cNvPr id="13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12720" y="21031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STT de máquina de estados + pruebas unitarias de RTC DS3231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58440" y="3246120"/>
            <a:ext cx="5211720" cy="1462680"/>
          </a:xfrm>
          <a:prstGeom prst="roundRect">
            <a:avLst>
              <a:gd name="adj" fmla="val 7500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658440" y="3246120"/>
            <a:ext cx="59040" cy="146268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68680" y="34016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Objeto del estudio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68680" y="3831480"/>
            <a:ext cx="4791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Firmware de adquisición, control ON/OFF con histéresis y diagnóstico.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080760" y="3246120"/>
            <a:ext cx="5303160" cy="1462680"/>
          </a:xfrm>
          <a:prstGeom prst="roundRect">
            <a:avLst>
              <a:gd name="adj" fmla="val 7500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080760" y="3246120"/>
            <a:ext cx="59040" cy="146268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291000" y="340164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Evidencias ejecutadas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291000" y="3831480"/>
            <a:ext cx="4882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t>STT: 9/9 transiciones · Ceedling: 13/13 pruebas.</a:t>
            </a:r>
          </a:p>
        </p:txBody>
      </p:sp>
      <p:sp>
        <p:nvSpPr>
          <p:cNvPr id="23" name="Text 15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Proyecto base: ControlTemperatura_UART_RTC · Presentación técnica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5285232"/>
            <a:ext cx="10789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7FAFE"/>
                </a:solidFill>
                <a:latin typeface="Aptos"/>
              </a:defRPr>
            </a:pPr>
            <a:r>
              <a:t>CARLOS QUISPE LOPEZ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F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Box 2"/>
          <p:cNvSpPr/>
          <p:nvPr/>
        </p:nvSpPr>
        <p:spPr>
          <a:xfrm>
            <a:off x="594360" y="255960"/>
            <a:ext cx="9143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1FBFB8"/>
                </a:solidFill>
                <a:effectLst/>
                <a:uFillTx/>
                <a:latin typeface="Aptos"/>
              </a:rPr>
              <a:t>FIUBA · TESTING DE SOFTWARE DE SISTEMAS EMBEBIDOS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3"/>
          <p:cNvSpPr/>
          <p:nvPr/>
        </p:nvSpPr>
        <p:spPr>
          <a:xfrm>
            <a:off x="640080" y="685800"/>
            <a:ext cx="109724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0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Contexto: ¿qué problema resuelve el proyecto?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640080" y="1371600"/>
            <a:ext cx="1097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Sistema embebido de monitoreo y control automático de temperatura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8" name="Connector 5"/>
          <p:cNvCxnSpPr/>
          <p:nvPr/>
        </p:nvCxnSpPr>
        <p:spPr>
          <a:xfrm>
            <a:off x="594360" y="6510240"/>
            <a:ext cx="10927440" cy="360"/>
          </a:xfrm>
          <a:prstGeom prst="straightConnector1">
            <a:avLst/>
          </a:prstGeom>
          <a:ln w="26670">
            <a:solidFill>
              <a:srgbClr val="324C63"/>
            </a:solidFill>
          </a:ln>
        </p:spPr>
      </p:cxnSp>
      <p:sp>
        <p:nvSpPr>
          <p:cNvPr id="29" name="TextBox 6"/>
          <p:cNvSpPr/>
          <p:nvPr/>
        </p:nvSpPr>
        <p:spPr>
          <a:xfrm>
            <a:off x="731520" y="1874520"/>
            <a:ext cx="106066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900" b="0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Un equipo o ambiente requiere mantener su temperatura dentro de límites definidos. Una lectura inválida o una decisión incorrecta puede afectar el control y la seguridad de la salida.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Rounded Rectangle 7"/>
          <p:cNvSpPr/>
          <p:nvPr/>
        </p:nvSpPr>
        <p:spPr>
          <a:xfrm>
            <a:off x="731520" y="3063240"/>
            <a:ext cx="2541600" cy="68544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1 · MEDIR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8"/>
          <p:cNvSpPr/>
          <p:nvPr/>
        </p:nvSpPr>
        <p:spPr>
          <a:xfrm>
            <a:off x="822960" y="3886200"/>
            <a:ext cx="23770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El sensor MCP9700A entrega una señal analógica proporcional a la temperatura.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Rounded Rectangle 9"/>
          <p:cNvSpPr/>
          <p:nvPr/>
        </p:nvSpPr>
        <p:spPr>
          <a:xfrm>
            <a:off x="3566160" y="3063240"/>
            <a:ext cx="2541600" cy="68544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2 · DECIDIR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10"/>
          <p:cNvSpPr/>
          <p:nvPr/>
        </p:nvSpPr>
        <p:spPr>
          <a:xfrm>
            <a:off x="3657600" y="3886200"/>
            <a:ext cx="23770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El STM32 aplica setpoint e histéresis; evita cambios repetitivos cerca del umbral.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Rounded Rectangle 11"/>
          <p:cNvSpPr/>
          <p:nvPr/>
        </p:nvSpPr>
        <p:spPr>
          <a:xfrm>
            <a:off x="6400800" y="3063240"/>
            <a:ext cx="2541600" cy="68544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3 · ACTUAR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2"/>
          <p:cNvSpPr/>
          <p:nvPr/>
        </p:nvSpPr>
        <p:spPr>
          <a:xfrm>
            <a:off x="6492240" y="3886200"/>
            <a:ext cx="23770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La salida del controlador gobierna la etapa de potencia del actuador.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Rounded Rectangle 13"/>
          <p:cNvSpPr/>
          <p:nvPr/>
        </p:nvSpPr>
        <p:spPr>
          <a:xfrm>
            <a:off x="9235440" y="3063240"/>
            <a:ext cx="2541600" cy="68544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4 · INFORMAR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14"/>
          <p:cNvSpPr/>
          <p:nvPr/>
        </p:nvSpPr>
        <p:spPr>
          <a:xfrm>
            <a:off x="9326880" y="3886200"/>
            <a:ext cx="23770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UART y LCD permiten consultar el estado; RTC proporciona fecha y hora.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15"/>
          <p:cNvSpPr/>
          <p:nvPr/>
        </p:nvSpPr>
        <p:spPr>
          <a:xfrm>
            <a:off x="777240" y="568764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FBFB8"/>
                </a:solidFill>
                <a:effectLst/>
                <a:uFillTx/>
                <a:latin typeface="Aptos"/>
              </a:rPr>
              <a:t>Pregunta de testing: ¿el software toma decisiones correctas ante una lectura válida y reacciona de forma segura ante fallos?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6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F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Box 2"/>
          <p:cNvSpPr/>
          <p:nvPr/>
        </p:nvSpPr>
        <p:spPr>
          <a:xfrm>
            <a:off x="594360" y="255960"/>
            <a:ext cx="9143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1FBFB8"/>
                </a:solidFill>
                <a:effectLst/>
                <a:uFillTx/>
                <a:latin typeface="Aptos"/>
              </a:rPr>
              <a:t>FIUBA · TESTING DE SOFTWARE DE SISTEMAS EMBEBIDOS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3"/>
          <p:cNvSpPr/>
          <p:nvPr/>
        </p:nvSpPr>
        <p:spPr>
          <a:xfrm>
            <a:off x="640080" y="685800"/>
            <a:ext cx="109724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0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Constitución del sistema: bloques funcionales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640080" y="1371600"/>
            <a:ext cx="1097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Qué elementos intervienen desde la medición hasta la salida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Connector 5"/>
          <p:cNvCxnSpPr/>
          <p:nvPr/>
        </p:nvCxnSpPr>
        <p:spPr>
          <a:xfrm>
            <a:off x="594360" y="6510240"/>
            <a:ext cx="10927440" cy="360"/>
          </a:xfrm>
          <a:prstGeom prst="straightConnector1">
            <a:avLst/>
          </a:prstGeom>
          <a:ln w="26670">
            <a:solidFill>
              <a:srgbClr val="324C63"/>
            </a:solidFill>
          </a:ln>
        </p:spPr>
      </p:cxnSp>
      <p:sp>
        <p:nvSpPr>
          <p:cNvPr id="45" name="Rounded Rectangle 6"/>
          <p:cNvSpPr/>
          <p:nvPr/>
        </p:nvSpPr>
        <p:spPr>
          <a:xfrm>
            <a:off x="4160520" y="2651760"/>
            <a:ext cx="3702960" cy="141696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STM32F446RE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ADC · sensor_fsm · UART · I2C · lógica de control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Rounded Rectangle 7"/>
          <p:cNvSpPr/>
          <p:nvPr/>
        </p:nvSpPr>
        <p:spPr>
          <a:xfrm>
            <a:off x="502920" y="2560320"/>
            <a:ext cx="2651400" cy="107856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MCP9700A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Sensor analógico de temperatura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Rounded Rectangle 8"/>
          <p:cNvSpPr/>
          <p:nvPr/>
        </p:nvSpPr>
        <p:spPr>
          <a:xfrm>
            <a:off x="8842320" y="2560320"/>
            <a:ext cx="2715480" cy="107856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F9B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Etapa de salida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GPIO PA5 → transistor / relé / cooler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Rounded Rectangle 9"/>
          <p:cNvSpPr/>
          <p:nvPr/>
        </p:nvSpPr>
        <p:spPr>
          <a:xfrm>
            <a:off x="4178880" y="4809600"/>
            <a:ext cx="3547440" cy="87732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PC / Terminal UART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Configuración · diagnóstico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Rounded Rectangle 10"/>
          <p:cNvSpPr/>
          <p:nvPr/>
        </p:nvSpPr>
        <p:spPr>
          <a:xfrm>
            <a:off x="521280" y="4809600"/>
            <a:ext cx="2614680" cy="87732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DS3231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Fecha y hora mediante I2C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Rounded Rectangle 11"/>
          <p:cNvSpPr/>
          <p:nvPr/>
        </p:nvSpPr>
        <p:spPr>
          <a:xfrm>
            <a:off x="8860680" y="4809600"/>
            <a:ext cx="2669760" cy="877320"/>
          </a:xfrm>
          <a:prstGeom prst="roundRect">
            <a:avLst>
              <a:gd name="adj" fmla="val 16667"/>
            </a:avLst>
          </a:prstGeom>
          <a:solidFill>
            <a:srgbClr val="142741"/>
          </a:solidFill>
          <a:ln w="21590">
            <a:solidFill>
              <a:srgbClr val="1FB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6F8FC"/>
                </a:solidFill>
                <a:effectLst/>
                <a:uFillTx/>
                <a:latin typeface="Aptos"/>
              </a:rPr>
              <a:t>LCD 16×2 + PCF8574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Visualización mediante I2C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" name="Connector 12"/>
          <p:cNvCxnSpPr/>
          <p:nvPr/>
        </p:nvCxnSpPr>
        <p:spPr>
          <a:xfrm>
            <a:off x="3154680" y="3090600"/>
            <a:ext cx="1006200" cy="36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cxnSp>
        <p:nvCxnSpPr>
          <p:cNvPr id="52" name="Connector 13"/>
          <p:cNvCxnSpPr/>
          <p:nvPr/>
        </p:nvCxnSpPr>
        <p:spPr>
          <a:xfrm>
            <a:off x="7863840" y="3090600"/>
            <a:ext cx="978480" cy="360"/>
          </a:xfrm>
          <a:prstGeom prst="straightConnector1">
            <a:avLst/>
          </a:prstGeom>
          <a:ln w="26670">
            <a:solidFill>
              <a:srgbClr val="F9BA59"/>
            </a:solidFill>
          </a:ln>
        </p:spPr>
      </p:cxnSp>
      <p:cxnSp>
        <p:nvCxnSpPr>
          <p:cNvPr id="53" name="Connector 14"/>
          <p:cNvCxnSpPr/>
          <p:nvPr/>
        </p:nvCxnSpPr>
        <p:spPr>
          <a:xfrm>
            <a:off x="5979960" y="4069080"/>
            <a:ext cx="360" cy="74088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cxnSp>
        <p:nvCxnSpPr>
          <p:cNvPr id="54" name="Connector 15"/>
          <p:cNvCxnSpPr/>
          <p:nvPr/>
        </p:nvCxnSpPr>
        <p:spPr>
          <a:xfrm flipV="1">
            <a:off x="1828800" y="4325040"/>
            <a:ext cx="360" cy="48492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cxnSp>
        <p:nvCxnSpPr>
          <p:cNvPr id="55" name="Connector 16"/>
          <p:cNvCxnSpPr/>
          <p:nvPr/>
        </p:nvCxnSpPr>
        <p:spPr>
          <a:xfrm>
            <a:off x="1828800" y="4325040"/>
            <a:ext cx="2972160" cy="36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cxnSp>
        <p:nvCxnSpPr>
          <p:cNvPr id="56" name="Connector 17"/>
          <p:cNvCxnSpPr/>
          <p:nvPr/>
        </p:nvCxnSpPr>
        <p:spPr>
          <a:xfrm flipV="1">
            <a:off x="4800600" y="4069080"/>
            <a:ext cx="360" cy="25632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cxnSp>
        <p:nvCxnSpPr>
          <p:cNvPr id="57" name="Connector 18"/>
          <p:cNvCxnSpPr/>
          <p:nvPr/>
        </p:nvCxnSpPr>
        <p:spPr>
          <a:xfrm flipV="1">
            <a:off x="10167840" y="4325040"/>
            <a:ext cx="360" cy="48492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cxnSp>
        <p:nvCxnSpPr>
          <p:cNvPr id="58" name="Connector 19"/>
          <p:cNvCxnSpPr/>
          <p:nvPr/>
        </p:nvCxnSpPr>
        <p:spPr>
          <a:xfrm flipH="1">
            <a:off x="7205400" y="4325040"/>
            <a:ext cx="2962800" cy="36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cxnSp>
        <p:nvCxnSpPr>
          <p:cNvPr id="59" name="Connector 20"/>
          <p:cNvCxnSpPr/>
          <p:nvPr/>
        </p:nvCxnSpPr>
        <p:spPr>
          <a:xfrm flipV="1">
            <a:off x="7205400" y="4069080"/>
            <a:ext cx="360" cy="256320"/>
          </a:xfrm>
          <a:prstGeom prst="straightConnector1">
            <a:avLst/>
          </a:prstGeom>
          <a:ln w="26670">
            <a:solidFill>
              <a:srgbClr val="1FBFB8"/>
            </a:solidFill>
          </a:ln>
        </p:spPr>
      </p:cxnSp>
      <p:sp>
        <p:nvSpPr>
          <p:cNvPr id="60" name="TextBox 21"/>
          <p:cNvSpPr/>
          <p:nvPr/>
        </p:nvSpPr>
        <p:spPr>
          <a:xfrm>
            <a:off x="685800" y="22676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B2C5D5"/>
                </a:solidFill>
                <a:effectLst/>
                <a:uFillTx/>
                <a:latin typeface="Aptos"/>
              </a:rPr>
              <a:t>ADC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2"/>
          <p:cNvSpPr/>
          <p:nvPr/>
        </p:nvSpPr>
        <p:spPr>
          <a:xfrm>
            <a:off x="8823960" y="22676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9BA59"/>
                </a:solidFill>
                <a:effectLst/>
                <a:uFillTx/>
                <a:latin typeface="Aptos"/>
              </a:rPr>
              <a:t>Control ON/OFF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3"/>
          <p:cNvSpPr/>
          <p:nvPr/>
        </p:nvSpPr>
        <p:spPr>
          <a:xfrm>
            <a:off x="731520" y="605340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FBFB8"/>
                </a:solidFill>
                <a:effectLst/>
                <a:uFillTx/>
                <a:latin typeface="Aptos"/>
              </a:rPr>
              <a:t>Módulos priorizados para pruebas: sensor_fsm.c (STT) y ds3231.c (Unity + CMock + Ceedling).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4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200" b="1">
                <a:solidFill>
                  <a:srgbClr val="24C1BA"/>
                </a:solidFill>
                <a:latin typeface="Aptos"/>
              </a:defRPr>
            </a:pPr>
            <a:r>
              <a:t>FIUBA  · 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0972800" cy="5943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Características de calidad y prioridades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0972800" cy="42976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300" b="0">
                <a:solidFill>
                  <a:srgbClr val="A7B9CB"/>
                </a:solidFill>
                <a:latin typeface="Aptos"/>
              </a:defRPr>
            </a:pPr>
            <a:r>
              <a:t>Sistema STM32 de control de temperatura · Criterios propuestos para el Master Test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109960" cy="438912"/>
          </a:xfrm>
          <a:prstGeom prst="roundRect">
            <a:avLst/>
          </a:prstGeom>
          <a:solidFill>
            <a:srgbClr val="24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228600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1">
                <a:solidFill>
                  <a:srgbClr val="08172B"/>
                </a:solidFill>
                <a:latin typeface="Aptos"/>
              </a:defRPr>
            </a:pPr>
            <a:r>
              <a:t>CARACTERÍSTICA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109728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1">
                <a:solidFill>
                  <a:srgbClr val="08172B"/>
                </a:solidFill>
                <a:latin typeface="Aptos"/>
              </a:defRPr>
            </a:pPr>
            <a:r>
              <a:t>PESO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388620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1">
                <a:solidFill>
                  <a:srgbClr val="08172B"/>
                </a:solidFill>
                <a:latin typeface="Aptos"/>
              </a:defRPr>
            </a:pPr>
            <a:r>
              <a:t>RIESGO / 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2918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1">
                <a:solidFill>
                  <a:srgbClr val="08172B"/>
                </a:solidFill>
                <a:latin typeface="Aptos"/>
              </a:defRPr>
            </a:pPr>
            <a:r>
              <a:t>NIVEL DE PRUEBA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11109960" cy="548640"/>
          </a:xfrm>
          <a:prstGeom prst="round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546604"/>
            <a:ext cx="2404872" cy="38404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Adecuación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46604"/>
            <a:ext cx="100584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500" b="1">
                <a:solidFill>
                  <a:srgbClr val="24C1BA"/>
                </a:solidFill>
                <a:latin typeface="Aptos"/>
              </a:defRPr>
            </a:pPr>
            <a:r>
              <a:t>35 %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523744"/>
            <a:ext cx="3950208" cy="4480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Medir y controlar según SP e histéresis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32888"/>
            <a:ext cx="3273552" cy="4114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A7B9CB"/>
                </a:solidFill>
                <a:latin typeface="Aptos"/>
              </a:defRPr>
            </a:pPr>
            <a:r>
              <a:t>STT sistema · Unitarias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11109960" cy="548640"/>
          </a:xfrm>
          <a:prstGeom prst="roundRect">
            <a:avLst/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168396"/>
            <a:ext cx="2404872" cy="38404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Fiabilidad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68396"/>
            <a:ext cx="100584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500" b="1">
                <a:solidFill>
                  <a:srgbClr val="24C1BA"/>
                </a:solidFill>
                <a:latin typeface="Aptos"/>
              </a:defRPr>
            </a:pPr>
            <a:r>
              <a:t>30 %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45536"/>
            <a:ext cx="3950208" cy="4480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Gestionar fallos ADC e I2C sin perder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54680"/>
            <a:ext cx="3273552" cy="4114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A7B9CB"/>
                </a:solidFill>
                <a:latin typeface="Aptos"/>
              </a:defRPr>
            </a:pPr>
            <a:r>
              <a:t>STT error · Mocks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85032"/>
            <a:ext cx="11109960" cy="548640"/>
          </a:xfrm>
          <a:prstGeom prst="round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790188"/>
            <a:ext cx="2404872" cy="38404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Seguridad funcional básica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790188"/>
            <a:ext cx="100584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500" b="1">
                <a:solidFill>
                  <a:srgbClr val="24C1BA"/>
                </a:solidFill>
                <a:latin typeface="Aptos"/>
              </a:defRPr>
            </a:pPr>
            <a:r>
              <a:t>20 %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767328"/>
            <a:ext cx="3950208" cy="4480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Desactivar PA5 ante lectura inválida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76472"/>
            <a:ext cx="3273552" cy="4114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A7B9CB"/>
                </a:solidFill>
                <a:latin typeface="Aptos"/>
              </a:defRPr>
            </a:pPr>
            <a:r>
              <a:t>STT camino 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06824"/>
            <a:ext cx="11109960" cy="548640"/>
          </a:xfrm>
          <a:prstGeom prst="roundRect">
            <a:avLst/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411980"/>
            <a:ext cx="2404872" cy="38404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Mantenibilidad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411980"/>
            <a:ext cx="100584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500" b="1">
                <a:solidFill>
                  <a:srgbClr val="24C1BA"/>
                </a:solidFill>
                <a:latin typeface="Aptos"/>
              </a:defRPr>
            </a:pPr>
            <a:r>
              <a:t>10 %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389120"/>
            <a:ext cx="3950208" cy="4480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Módulos independientes y verificables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98264"/>
            <a:ext cx="3273552" cy="4114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A7B9CB"/>
                </a:solidFill>
                <a:latin typeface="Aptos"/>
              </a:defRPr>
            </a:pPr>
            <a:r>
              <a:t>Unitarias Ceedling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28616"/>
            <a:ext cx="11109960" cy="548640"/>
          </a:xfrm>
          <a:prstGeom prst="round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033772"/>
            <a:ext cx="2404872" cy="38404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Eficiencia temporal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033772"/>
            <a:ext cx="100584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500" b="1">
                <a:solidFill>
                  <a:srgbClr val="24C1BA"/>
                </a:solidFill>
                <a:latin typeface="Aptos"/>
              </a:defRPr>
            </a:pPr>
            <a:r>
              <a:t>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010912"/>
            <a:ext cx="3950208" cy="4480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Respetar el ciclo lógico de lectura de 500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020056"/>
            <a:ext cx="3273552" cy="4114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100" b="0">
                <a:solidFill>
                  <a:srgbClr val="A7B9CB"/>
                </a:solidFill>
                <a:latin typeface="Aptos"/>
              </a:defRPr>
            </a:pPr>
            <a:r>
              <a:t>STT con tiempo simulado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724144"/>
            <a:ext cx="11109960" cy="484632"/>
          </a:xfrm>
          <a:prstGeom prst="roundRect">
            <a:avLst/>
          </a:prstGeom>
          <a:solidFill>
            <a:srgbClr val="0F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5815584"/>
            <a:ext cx="10789920" cy="33832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Prioridad principal: control térmico y manejo seguro del fallo del sensor (85 % del esfuerzo propuesto).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1000" b="0">
                <a:solidFill>
                  <a:srgbClr val="A7B9CB"/>
                </a:solidFill>
                <a:latin typeface="Aptos"/>
              </a:defRPr>
            </a:pPr>
            <a:r>
              <a:t>Ponderaciones propuestas para planificación académica; no corresponden a métricas medidas de cobertura.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Planificación: módulos y criticidad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Priorización según impacto sobre el comportamiento del sistema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05 / 21</a:t>
            </a:r>
          </a:p>
        </p:txBody>
      </p:sp>
      <p:sp>
        <p:nvSpPr>
          <p:cNvPr id="119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567000" y="1920240"/>
            <a:ext cx="320004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676800" y="1984320"/>
            <a:ext cx="29988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Módulo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3767400" y="1920240"/>
            <a:ext cx="182844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3877200" y="1984320"/>
            <a:ext cx="16272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Criticidad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5596200" y="1920240"/>
            <a:ext cx="594324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5706000" y="1984320"/>
            <a:ext cx="57420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Motivo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2"/>
          <p:cNvSpPr/>
          <p:nvPr/>
        </p:nvSpPr>
        <p:spPr>
          <a:xfrm>
            <a:off x="567000" y="2377440"/>
            <a:ext cx="32000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676800" y="240948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sensor_fsm.c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3767400" y="2377440"/>
            <a:ext cx="18284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3877200" y="240948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Alta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6"/>
          <p:cNvSpPr/>
          <p:nvPr/>
        </p:nvSpPr>
        <p:spPr>
          <a:xfrm>
            <a:off x="5596200" y="2377440"/>
            <a:ext cx="59432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5706000" y="2409480"/>
            <a:ext cx="575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Decisión de control y reacción a errores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8"/>
          <p:cNvSpPr/>
          <p:nvPr/>
        </p:nvSpPr>
        <p:spPr>
          <a:xfrm>
            <a:off x="567000" y="2898720"/>
            <a:ext cx="32000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676800" y="293076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mcp9700a.c / adc_drv.c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0"/>
          <p:cNvSpPr/>
          <p:nvPr/>
        </p:nvSpPr>
        <p:spPr>
          <a:xfrm>
            <a:off x="3767400" y="2898720"/>
            <a:ext cx="18284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21"/>
          <p:cNvSpPr/>
          <p:nvPr/>
        </p:nvSpPr>
        <p:spPr>
          <a:xfrm>
            <a:off x="3877200" y="293076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Alta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2"/>
          <p:cNvSpPr/>
          <p:nvPr/>
        </p:nvSpPr>
        <p:spPr>
          <a:xfrm>
            <a:off x="5596200" y="2898720"/>
            <a:ext cx="59432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 23"/>
          <p:cNvSpPr/>
          <p:nvPr/>
        </p:nvSpPr>
        <p:spPr>
          <a:xfrm>
            <a:off x="5706000" y="2930760"/>
            <a:ext cx="575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Calidad y validez de la medición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4"/>
          <p:cNvSpPr/>
          <p:nvPr/>
        </p:nvSpPr>
        <p:spPr>
          <a:xfrm>
            <a:off x="567000" y="3420000"/>
            <a:ext cx="32000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676800" y="345204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ds3231.c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6"/>
          <p:cNvSpPr/>
          <p:nvPr/>
        </p:nvSpPr>
        <p:spPr>
          <a:xfrm>
            <a:off x="3767400" y="3420000"/>
            <a:ext cx="18284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 27"/>
          <p:cNvSpPr/>
          <p:nvPr/>
        </p:nvSpPr>
        <p:spPr>
          <a:xfrm>
            <a:off x="3877200" y="345204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Media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8"/>
          <p:cNvSpPr/>
          <p:nvPr/>
        </p:nvSpPr>
        <p:spPr>
          <a:xfrm>
            <a:off x="5596200" y="3420000"/>
            <a:ext cx="59432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 29"/>
          <p:cNvSpPr/>
          <p:nvPr/>
        </p:nvSpPr>
        <p:spPr>
          <a:xfrm>
            <a:off x="5706000" y="3452040"/>
            <a:ext cx="575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Integridad de la marca temporal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0"/>
          <p:cNvSpPr/>
          <p:nvPr/>
        </p:nvSpPr>
        <p:spPr>
          <a:xfrm>
            <a:off x="567000" y="3940920"/>
            <a:ext cx="32000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31"/>
          <p:cNvSpPr/>
          <p:nvPr/>
        </p:nvSpPr>
        <p:spPr>
          <a:xfrm>
            <a:off x="676800" y="397296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i2c_drv.c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2"/>
          <p:cNvSpPr/>
          <p:nvPr/>
        </p:nvSpPr>
        <p:spPr>
          <a:xfrm>
            <a:off x="3767400" y="3940920"/>
            <a:ext cx="18284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 33"/>
          <p:cNvSpPr/>
          <p:nvPr/>
        </p:nvSpPr>
        <p:spPr>
          <a:xfrm>
            <a:off x="3877200" y="397296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Media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4"/>
          <p:cNvSpPr/>
          <p:nvPr/>
        </p:nvSpPr>
        <p:spPr>
          <a:xfrm>
            <a:off x="5596200" y="3940920"/>
            <a:ext cx="59432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35"/>
          <p:cNvSpPr/>
          <p:nvPr/>
        </p:nvSpPr>
        <p:spPr>
          <a:xfrm>
            <a:off x="5706000" y="3972960"/>
            <a:ext cx="575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Comunicación con periféricos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6"/>
          <p:cNvSpPr/>
          <p:nvPr/>
        </p:nvSpPr>
        <p:spPr>
          <a:xfrm>
            <a:off x="567000" y="4462200"/>
            <a:ext cx="32000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37"/>
          <p:cNvSpPr/>
          <p:nvPr/>
        </p:nvSpPr>
        <p:spPr>
          <a:xfrm>
            <a:off x="676800" y="449424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uart_fsm.c / uart_drv.c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8"/>
          <p:cNvSpPr/>
          <p:nvPr/>
        </p:nvSpPr>
        <p:spPr>
          <a:xfrm>
            <a:off x="3767400" y="4462200"/>
            <a:ext cx="18284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 39"/>
          <p:cNvSpPr/>
          <p:nvPr/>
        </p:nvSpPr>
        <p:spPr>
          <a:xfrm>
            <a:off x="3877200" y="449424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Media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0"/>
          <p:cNvSpPr/>
          <p:nvPr/>
        </p:nvSpPr>
        <p:spPr>
          <a:xfrm>
            <a:off x="5596200" y="4462200"/>
            <a:ext cx="5943240" cy="5209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 41"/>
          <p:cNvSpPr/>
          <p:nvPr/>
        </p:nvSpPr>
        <p:spPr>
          <a:xfrm>
            <a:off x="5706000" y="4494240"/>
            <a:ext cx="575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Comandos y configuración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2"/>
          <p:cNvSpPr/>
          <p:nvPr/>
        </p:nvSpPr>
        <p:spPr>
          <a:xfrm>
            <a:off x="567000" y="4983480"/>
            <a:ext cx="32000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 43"/>
          <p:cNvSpPr/>
          <p:nvPr/>
        </p:nvSpPr>
        <p:spPr>
          <a:xfrm>
            <a:off x="676800" y="501552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lcd_pcf857.c / eeprom_drv.c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4"/>
          <p:cNvSpPr/>
          <p:nvPr/>
        </p:nvSpPr>
        <p:spPr>
          <a:xfrm>
            <a:off x="3767400" y="4983480"/>
            <a:ext cx="18284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 45"/>
          <p:cNvSpPr/>
          <p:nvPr/>
        </p:nvSpPr>
        <p:spPr>
          <a:xfrm>
            <a:off x="3877200" y="501552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Media / baja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6"/>
          <p:cNvSpPr/>
          <p:nvPr/>
        </p:nvSpPr>
        <p:spPr>
          <a:xfrm>
            <a:off x="5596200" y="4983480"/>
            <a:ext cx="5943240" cy="5209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 47"/>
          <p:cNvSpPr/>
          <p:nvPr/>
        </p:nvSpPr>
        <p:spPr>
          <a:xfrm>
            <a:off x="5706000" y="5015520"/>
            <a:ext cx="575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Presentación y persistencia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8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Criticidad propuesta para el plan de pruebas; no constituye una evaluación de seguridad certificada.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Planificación: métodos y exclusiones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Qué se prueba, cómo y qué no se concluye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06 / 21</a:t>
            </a:r>
          </a:p>
        </p:txBody>
      </p:sp>
      <p:sp>
        <p:nvSpPr>
          <p:cNvPr id="168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603360" y="1828800"/>
            <a:ext cx="5367240" cy="1572480"/>
          </a:xfrm>
          <a:prstGeom prst="roundRect">
            <a:avLst>
              <a:gd name="adj" fmla="val 6977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603360" y="1828800"/>
            <a:ext cx="59040" cy="157248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813960" y="1984320"/>
            <a:ext cx="500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STT sobre sensor_fsm.c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813960" y="2414160"/>
            <a:ext cx="494640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Cobertura de estados y transiciones. Entradas simuladas: tiempo, temperatura y fallos.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6144840" y="1828800"/>
            <a:ext cx="5367240" cy="1572480"/>
          </a:xfrm>
          <a:prstGeom prst="roundRect">
            <a:avLst>
              <a:gd name="adj" fmla="val 6977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6144840" y="1828800"/>
            <a:ext cx="59040" cy="157248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6355080" y="1984320"/>
            <a:ext cx="500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Unity + CMock sobre ds3231.c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6355080" y="2414160"/>
            <a:ext cx="494640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Aserciones de conversión y lectura/escritura; dependencias I2C simuladas.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603360" y="3703320"/>
            <a:ext cx="10908360" cy="1508400"/>
          </a:xfrm>
          <a:prstGeom prst="roundRect">
            <a:avLst>
              <a:gd name="adj" fmla="val 7273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603360" y="3703320"/>
            <a:ext cx="59040" cy="1508400"/>
          </a:xfrm>
          <a:prstGeom prst="rect">
            <a:avLst/>
          </a:prstGeom>
          <a:solidFill>
            <a:srgbClr val="F4BB69"/>
          </a:solidFill>
          <a:ln w="12700">
            <a:solidFill>
              <a:srgbClr val="F4BB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813960" y="3858840"/>
            <a:ext cx="10542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Fuera de alcance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813960" y="4288680"/>
            <a:ext cx="10487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Precisión física del MCP9700A o DS3231, RF, comportamiento eléctrico, estrés, durabilidad y validación extremo a extremo sobre STM32.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Calidad evaluada: corrección funcional, robustez y respuesta lógica ante errores.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7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502920" y="2286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27D6D6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594360" y="71316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5F5F5"/>
                </a:solidFill>
                <a:effectLst/>
                <a:uFillTx/>
                <a:latin typeface="Calibri"/>
              </a:rPr>
              <a:t>Máquina de estados del sensor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594360" y="14446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B4BECD"/>
                </a:solidFill>
                <a:effectLst/>
                <a:uFillTx/>
                <a:latin typeface="Calibri"/>
              </a:rPr>
              <a:t>Diagrama simplificado del archivo real sensor_fsm.c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5"/>
          <p:cNvSpPr/>
          <p:nvPr/>
        </p:nvSpPr>
        <p:spPr>
          <a:xfrm>
            <a:off x="777240" y="2788920"/>
            <a:ext cx="1645560" cy="731160"/>
          </a:xfrm>
          <a:prstGeom prst="roundRect">
            <a:avLst>
              <a:gd name="adj" fmla="val 16667"/>
            </a:avLst>
          </a:prstGeom>
          <a:solidFill>
            <a:srgbClr val="142A49"/>
          </a:solidFill>
          <a:ln w="27940">
            <a:solidFill>
              <a:srgbClr val="27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5F5F5"/>
                </a:solidFill>
                <a:effectLst/>
                <a:uFillTx/>
                <a:latin typeface="Calibri"/>
              </a:rPr>
              <a:t>IDLE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6"/>
          <p:cNvSpPr/>
          <p:nvPr/>
        </p:nvSpPr>
        <p:spPr>
          <a:xfrm>
            <a:off x="2880360" y="2788920"/>
            <a:ext cx="1645560" cy="731160"/>
          </a:xfrm>
          <a:prstGeom prst="roundRect">
            <a:avLst>
              <a:gd name="adj" fmla="val 16667"/>
            </a:avLst>
          </a:prstGeom>
          <a:solidFill>
            <a:srgbClr val="142A49"/>
          </a:solidFill>
          <a:ln w="27940">
            <a:solidFill>
              <a:srgbClr val="27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5F5F5"/>
                </a:solidFill>
                <a:effectLst/>
                <a:uFillTx/>
                <a:latin typeface="Calibri"/>
              </a:rPr>
              <a:t>READ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7"/>
          <p:cNvSpPr/>
          <p:nvPr/>
        </p:nvSpPr>
        <p:spPr>
          <a:xfrm>
            <a:off x="4983480" y="2788920"/>
            <a:ext cx="1645560" cy="731160"/>
          </a:xfrm>
          <a:prstGeom prst="roundRect">
            <a:avLst>
              <a:gd name="adj" fmla="val 16667"/>
            </a:avLst>
          </a:prstGeom>
          <a:solidFill>
            <a:srgbClr val="142A49"/>
          </a:solidFill>
          <a:ln w="27940">
            <a:solidFill>
              <a:srgbClr val="27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5F5F5"/>
                </a:solidFill>
                <a:effectLst/>
                <a:uFillTx/>
                <a:latin typeface="Calibri"/>
              </a:rPr>
              <a:t>CONTROL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8"/>
          <p:cNvSpPr/>
          <p:nvPr/>
        </p:nvSpPr>
        <p:spPr>
          <a:xfrm>
            <a:off x="7086600" y="2788920"/>
            <a:ext cx="1645560" cy="731160"/>
          </a:xfrm>
          <a:prstGeom prst="roundRect">
            <a:avLst>
              <a:gd name="adj" fmla="val 16667"/>
            </a:avLst>
          </a:prstGeom>
          <a:solidFill>
            <a:srgbClr val="142A49"/>
          </a:solidFill>
          <a:ln w="27940">
            <a:solidFill>
              <a:srgbClr val="27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5F5F5"/>
                </a:solidFill>
                <a:effectLst/>
                <a:uFillTx/>
                <a:latin typeface="Calibri"/>
              </a:rPr>
              <a:t>OUTPUT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9"/>
          <p:cNvSpPr/>
          <p:nvPr/>
        </p:nvSpPr>
        <p:spPr>
          <a:xfrm>
            <a:off x="2880360" y="4663440"/>
            <a:ext cx="1645560" cy="731160"/>
          </a:xfrm>
          <a:prstGeom prst="roundRect">
            <a:avLst>
              <a:gd name="adj" fmla="val 16667"/>
            </a:avLst>
          </a:prstGeom>
          <a:solidFill>
            <a:srgbClr val="142A49"/>
          </a:solidFill>
          <a:ln w="27940">
            <a:solidFill>
              <a:srgbClr val="FFC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5F5F5"/>
                </a:solidFill>
                <a:effectLst/>
                <a:uFillTx/>
                <a:latin typeface="Calibri"/>
              </a:rPr>
              <a:t>ERROR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1" name="Connector 10"/>
          <p:cNvCxnSpPr/>
          <p:nvPr/>
        </p:nvCxnSpPr>
        <p:spPr>
          <a:xfrm>
            <a:off x="2423160" y="3154680"/>
            <a:ext cx="457560" cy="360"/>
          </a:xfrm>
          <a:prstGeom prst="straightConnector1">
            <a:avLst/>
          </a:prstGeom>
          <a:ln w="25400">
            <a:solidFill>
              <a:srgbClr val="27D6D6"/>
            </a:solidFill>
          </a:ln>
        </p:spPr>
      </p:cxnSp>
      <p:sp>
        <p:nvSpPr>
          <p:cNvPr id="192" name="TextBox 11"/>
          <p:cNvSpPr/>
          <p:nvPr/>
        </p:nvSpPr>
        <p:spPr>
          <a:xfrm>
            <a:off x="1993320" y="25146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B4BECD"/>
                </a:solidFill>
                <a:effectLst/>
                <a:uFillTx/>
                <a:latin typeface="Calibri"/>
              </a:rPr>
              <a:t>≥ 500 ms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3" name="Connector 12"/>
          <p:cNvCxnSpPr/>
          <p:nvPr/>
        </p:nvCxnSpPr>
        <p:spPr>
          <a:xfrm>
            <a:off x="4526280" y="3154680"/>
            <a:ext cx="457560" cy="360"/>
          </a:xfrm>
          <a:prstGeom prst="straightConnector1">
            <a:avLst/>
          </a:prstGeom>
          <a:ln w="25400">
            <a:solidFill>
              <a:srgbClr val="27D6D6"/>
            </a:solidFill>
          </a:ln>
        </p:spPr>
      </p:cxnSp>
      <p:sp>
        <p:nvSpPr>
          <p:cNvPr id="194" name="TextBox 13"/>
          <p:cNvSpPr/>
          <p:nvPr/>
        </p:nvSpPr>
        <p:spPr>
          <a:xfrm>
            <a:off x="4041720" y="24505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B4BECD"/>
                </a:solidFill>
                <a:effectLst/>
                <a:uFillTx/>
                <a:latin typeface="Calibri"/>
              </a:rPr>
              <a:t>Lectura válida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5" name="Connector 14"/>
          <p:cNvCxnSpPr/>
          <p:nvPr/>
        </p:nvCxnSpPr>
        <p:spPr>
          <a:xfrm>
            <a:off x="6629400" y="3154680"/>
            <a:ext cx="457560" cy="360"/>
          </a:xfrm>
          <a:prstGeom prst="straightConnector1">
            <a:avLst/>
          </a:prstGeom>
          <a:ln w="25400">
            <a:solidFill>
              <a:srgbClr val="27D6D6"/>
            </a:solidFill>
          </a:ln>
        </p:spPr>
      </p:cxnSp>
      <p:sp>
        <p:nvSpPr>
          <p:cNvPr id="196" name="TextBox 15"/>
          <p:cNvSpPr/>
          <p:nvPr/>
        </p:nvSpPr>
        <p:spPr>
          <a:xfrm>
            <a:off x="6108120" y="24505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B4BECD"/>
                </a:solidFill>
                <a:effectLst/>
                <a:uFillTx/>
                <a:latin typeface="Calibri"/>
              </a:rPr>
              <a:t>Evaluación de control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7" name="Connector 16"/>
          <p:cNvCxnSpPr/>
          <p:nvPr/>
        </p:nvCxnSpPr>
        <p:spPr>
          <a:xfrm>
            <a:off x="3703320" y="3520440"/>
            <a:ext cx="360" cy="1143360"/>
          </a:xfrm>
          <a:prstGeom prst="straightConnector1">
            <a:avLst/>
          </a:prstGeom>
          <a:ln w="25400">
            <a:solidFill>
              <a:srgbClr val="FFC14F"/>
            </a:solidFill>
          </a:ln>
        </p:spPr>
      </p:cxnSp>
      <p:sp>
        <p:nvSpPr>
          <p:cNvPr id="198" name="TextBox 17"/>
          <p:cNvSpPr/>
          <p:nvPr/>
        </p:nvSpPr>
        <p:spPr>
          <a:xfrm>
            <a:off x="3611880" y="40233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FC14F"/>
                </a:solidFill>
                <a:effectLst/>
                <a:uFillTx/>
                <a:latin typeface="Calibri"/>
              </a:rPr>
              <a:t>Fallo / inválida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Connector 18"/>
          <p:cNvCxnSpPr/>
          <p:nvPr/>
        </p:nvCxnSpPr>
        <p:spPr>
          <a:xfrm>
            <a:off x="7909560" y="3520440"/>
            <a:ext cx="360" cy="731880"/>
          </a:xfrm>
          <a:prstGeom prst="straightConnector1">
            <a:avLst/>
          </a:prstGeom>
          <a:ln w="25400">
            <a:solidFill>
              <a:srgbClr val="27D6D6"/>
            </a:solidFill>
          </a:ln>
        </p:spPr>
      </p:cxnSp>
      <p:cxnSp>
        <p:nvCxnSpPr>
          <p:cNvPr id="200" name="Connector 19"/>
          <p:cNvCxnSpPr/>
          <p:nvPr/>
        </p:nvCxnSpPr>
        <p:spPr>
          <a:xfrm flipH="1">
            <a:off x="1600200" y="4251960"/>
            <a:ext cx="6309720" cy="360"/>
          </a:xfrm>
          <a:prstGeom prst="straightConnector1">
            <a:avLst/>
          </a:prstGeom>
          <a:ln w="25400">
            <a:solidFill>
              <a:srgbClr val="27D6D6"/>
            </a:solidFill>
          </a:ln>
        </p:spPr>
      </p:cxnSp>
      <p:sp>
        <p:nvSpPr>
          <p:cNvPr id="201" name="TextBox 20"/>
          <p:cNvSpPr/>
          <p:nvPr/>
        </p:nvSpPr>
        <p:spPr>
          <a:xfrm>
            <a:off x="8211240" y="373068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B4BECD"/>
                </a:solidFill>
                <a:effectLst/>
                <a:uFillTx/>
                <a:latin typeface="Calibri"/>
              </a:rPr>
              <a:t>Fin ciclo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Connector 21"/>
          <p:cNvCxnSpPr/>
          <p:nvPr/>
        </p:nvCxnSpPr>
        <p:spPr>
          <a:xfrm flipH="1">
            <a:off x="1600200" y="5029200"/>
            <a:ext cx="1280520" cy="360"/>
          </a:xfrm>
          <a:prstGeom prst="straightConnector1">
            <a:avLst/>
          </a:prstGeom>
          <a:ln w="25400">
            <a:solidFill>
              <a:srgbClr val="FFC14F"/>
            </a:solidFill>
          </a:ln>
        </p:spPr>
      </p:cxnSp>
      <p:cxnSp>
        <p:nvCxnSpPr>
          <p:cNvPr id="203" name="Connector 22"/>
          <p:cNvCxnSpPr>
            <a:cxnSpLocks/>
            <a:endCxn id="186" idx="2"/>
          </p:cNvCxnSpPr>
          <p:nvPr/>
        </p:nvCxnSpPr>
        <p:spPr>
          <a:xfrm flipH="1" flipV="1">
            <a:off x="1600020" y="3520080"/>
            <a:ext cx="180" cy="1509480"/>
          </a:xfrm>
          <a:prstGeom prst="straightConnector1">
            <a:avLst/>
          </a:prstGeom>
          <a:ln w="25400">
            <a:solidFill>
              <a:srgbClr val="FFC14F"/>
            </a:solidFill>
          </a:ln>
        </p:spPr>
      </p:cxnSp>
      <p:sp>
        <p:nvSpPr>
          <p:cNvPr id="204" name="TextBox 23"/>
          <p:cNvSpPr/>
          <p:nvPr/>
        </p:nvSpPr>
        <p:spPr>
          <a:xfrm>
            <a:off x="1645920" y="52578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FC14F"/>
                </a:solidFill>
                <a:effectLst/>
                <a:uFillTx/>
                <a:latin typeface="Calibri"/>
              </a:rPr>
              <a:t>Retorno seguro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4"/>
          <p:cNvSpPr/>
          <p:nvPr/>
        </p:nvSpPr>
        <p:spPr>
          <a:xfrm>
            <a:off x="750929" y="22042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 dirty="0">
                <a:solidFill>
                  <a:srgbClr val="B4BECD"/>
                </a:solidFill>
                <a:effectLst/>
                <a:uFillTx/>
                <a:latin typeface="Calibri"/>
              </a:rPr>
              <a:t>Si t &lt; 500 </a:t>
            </a:r>
            <a:r>
              <a:rPr lang="en-US" sz="1200" b="0" u="none" strike="noStrike" dirty="0" err="1">
                <a:solidFill>
                  <a:srgbClr val="B4BECD"/>
                </a:solidFill>
                <a:effectLst/>
                <a:uFillTx/>
                <a:latin typeface="Calibri"/>
              </a:rPr>
              <a:t>ms</a:t>
            </a:r>
            <a:r>
              <a:rPr lang="en-US" sz="1200" b="0" u="none" strike="noStrike" dirty="0">
                <a:solidFill>
                  <a:srgbClr val="B4BECD"/>
                </a:solidFill>
                <a:effectLst/>
                <a:uFillTx/>
                <a:latin typeface="Calibri"/>
              </a:rPr>
              <a:t>, </a:t>
            </a:r>
            <a:r>
              <a:rPr lang="en-US" sz="1200" b="0" u="none" strike="noStrike" dirty="0" err="1">
                <a:solidFill>
                  <a:srgbClr val="B4BECD"/>
                </a:solidFill>
                <a:effectLst/>
                <a:uFillTx/>
                <a:latin typeface="Calibri"/>
              </a:rPr>
              <a:t>permanece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6" name="Connector 25"/>
          <p:cNvCxnSpPr/>
          <p:nvPr/>
        </p:nvCxnSpPr>
        <p:spPr>
          <a:xfrm flipV="1">
            <a:off x="960120" y="2578320"/>
            <a:ext cx="360" cy="165240"/>
          </a:xfrm>
          <a:prstGeom prst="straightConnector1">
            <a:avLst/>
          </a:prstGeom>
          <a:ln w="25400">
            <a:solidFill>
              <a:srgbClr val="27D6D6"/>
            </a:solidFill>
          </a:ln>
        </p:spPr>
      </p:cxnSp>
      <p:cxnSp>
        <p:nvCxnSpPr>
          <p:cNvPr id="207" name="Connector 26"/>
          <p:cNvCxnSpPr/>
          <p:nvPr/>
        </p:nvCxnSpPr>
        <p:spPr>
          <a:xfrm>
            <a:off x="960120" y="2578320"/>
            <a:ext cx="366120" cy="360"/>
          </a:xfrm>
          <a:prstGeom prst="straightConnector1">
            <a:avLst/>
          </a:prstGeom>
          <a:ln w="25400">
            <a:solidFill>
              <a:srgbClr val="27D6D6"/>
            </a:solidFill>
          </a:ln>
        </p:spPr>
      </p:cxnSp>
      <p:sp>
        <p:nvSpPr>
          <p:cNvPr id="208" name="TextBox 27"/>
          <p:cNvSpPr/>
          <p:nvPr/>
        </p:nvSpPr>
        <p:spPr>
          <a:xfrm>
            <a:off x="585216" y="6291072"/>
            <a:ext cx="10515600" cy="256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B4BECD"/>
                </a:solidFill>
                <a:effectLst/>
                <a:uFillTx/>
                <a:latin typeface="Calibri"/>
              </a:rPr>
              <a:t>La MEF realiza un ciclo normal o entra al estado ERROR ante lecturas inválidas.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Connector 28"/>
          <p:cNvCxnSpPr/>
          <p:nvPr/>
        </p:nvCxnSpPr>
        <p:spPr>
          <a:xfrm>
            <a:off x="502920" y="7589520"/>
            <a:ext cx="9510120" cy="360"/>
          </a:xfrm>
          <a:prstGeom prst="straightConnector1">
            <a:avLst/>
          </a:prstGeom>
          <a:ln w="10160">
            <a:solidFill>
              <a:srgbClr val="B4BECD"/>
            </a:solidFill>
          </a:ln>
        </p:spPr>
      </p:cxnSp>
      <p:sp>
        <p:nvSpPr>
          <p:cNvPr id="210" name="TextBox 29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Diseño STT: tabla de transiciones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Identificación de estímulos y siguientes estados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08 / 21</a:t>
            </a:r>
          </a:p>
        </p:txBody>
      </p:sp>
      <p:sp>
        <p:nvSpPr>
          <p:cNvPr id="216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Shape 6"/>
          <p:cNvSpPr/>
          <p:nvPr/>
        </p:nvSpPr>
        <p:spPr>
          <a:xfrm>
            <a:off x="567000" y="1737360"/>
            <a:ext cx="100548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676800" y="1801440"/>
            <a:ext cx="804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1572840" y="1737360"/>
            <a:ext cx="201132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1682640" y="1801440"/>
            <a:ext cx="18100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Origen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3584520" y="1737360"/>
            <a:ext cx="580608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3694320" y="1801440"/>
            <a:ext cx="5604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Condición / evento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2"/>
          <p:cNvSpPr/>
          <p:nvPr/>
        </p:nvSpPr>
        <p:spPr>
          <a:xfrm>
            <a:off x="9390960" y="1737360"/>
            <a:ext cx="214848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9500760" y="1801440"/>
            <a:ext cx="1947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Destino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4"/>
          <p:cNvSpPr/>
          <p:nvPr/>
        </p:nvSpPr>
        <p:spPr>
          <a:xfrm>
            <a:off x="567000" y="2194560"/>
            <a:ext cx="1005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676800" y="222660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6"/>
          <p:cNvSpPr/>
          <p:nvPr/>
        </p:nvSpPr>
        <p:spPr>
          <a:xfrm>
            <a:off x="1572840" y="2194560"/>
            <a:ext cx="20113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1682640" y="222660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8"/>
          <p:cNvSpPr/>
          <p:nvPr/>
        </p:nvSpPr>
        <p:spPr>
          <a:xfrm>
            <a:off x="3584520" y="2194560"/>
            <a:ext cx="58060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19"/>
          <p:cNvSpPr/>
          <p:nvPr/>
        </p:nvSpPr>
        <p:spPr>
          <a:xfrm>
            <a:off x="3694320" y="222660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Tiempo &lt; 500 ms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0"/>
          <p:cNvSpPr/>
          <p:nvPr/>
        </p:nvSpPr>
        <p:spPr>
          <a:xfrm>
            <a:off x="9390960" y="2194560"/>
            <a:ext cx="2148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9500760" y="222660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2"/>
          <p:cNvSpPr/>
          <p:nvPr/>
        </p:nvSpPr>
        <p:spPr>
          <a:xfrm>
            <a:off x="567000" y="2615040"/>
            <a:ext cx="1005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23"/>
          <p:cNvSpPr/>
          <p:nvPr/>
        </p:nvSpPr>
        <p:spPr>
          <a:xfrm>
            <a:off x="676800" y="264708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T2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4"/>
          <p:cNvSpPr/>
          <p:nvPr/>
        </p:nvSpPr>
        <p:spPr>
          <a:xfrm>
            <a:off x="1572840" y="2615040"/>
            <a:ext cx="20113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1682640" y="264708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6"/>
          <p:cNvSpPr/>
          <p:nvPr/>
        </p:nvSpPr>
        <p:spPr>
          <a:xfrm>
            <a:off x="3584520" y="2615040"/>
            <a:ext cx="58060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 27"/>
          <p:cNvSpPr/>
          <p:nvPr/>
        </p:nvSpPr>
        <p:spPr>
          <a:xfrm>
            <a:off x="3694320" y="264708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Tiempo ≥ 500 ms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8"/>
          <p:cNvSpPr/>
          <p:nvPr/>
        </p:nvSpPr>
        <p:spPr>
          <a:xfrm>
            <a:off x="9390960" y="2615040"/>
            <a:ext cx="2148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 29"/>
          <p:cNvSpPr/>
          <p:nvPr/>
        </p:nvSpPr>
        <p:spPr>
          <a:xfrm>
            <a:off x="9500760" y="264708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0"/>
          <p:cNvSpPr/>
          <p:nvPr/>
        </p:nvSpPr>
        <p:spPr>
          <a:xfrm>
            <a:off x="567000" y="3035880"/>
            <a:ext cx="1005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 31"/>
          <p:cNvSpPr/>
          <p:nvPr/>
        </p:nvSpPr>
        <p:spPr>
          <a:xfrm>
            <a:off x="676800" y="306792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T3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2"/>
          <p:cNvSpPr/>
          <p:nvPr/>
        </p:nvSpPr>
        <p:spPr>
          <a:xfrm>
            <a:off x="1572840" y="3035880"/>
            <a:ext cx="20113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 33"/>
          <p:cNvSpPr/>
          <p:nvPr/>
        </p:nvSpPr>
        <p:spPr>
          <a:xfrm>
            <a:off x="1682640" y="306792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4"/>
          <p:cNvSpPr/>
          <p:nvPr/>
        </p:nvSpPr>
        <p:spPr>
          <a:xfrm>
            <a:off x="3584520" y="3035880"/>
            <a:ext cx="58060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 35"/>
          <p:cNvSpPr/>
          <p:nvPr/>
        </p:nvSpPr>
        <p:spPr>
          <a:xfrm>
            <a:off x="3694320" y="306792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Lectura válida, T ≥ 0 °C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6"/>
          <p:cNvSpPr/>
          <p:nvPr/>
        </p:nvSpPr>
        <p:spPr>
          <a:xfrm>
            <a:off x="9390960" y="3035880"/>
            <a:ext cx="2148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 37"/>
          <p:cNvSpPr/>
          <p:nvPr/>
        </p:nvSpPr>
        <p:spPr>
          <a:xfrm>
            <a:off x="9500760" y="306792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CONTROL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8"/>
          <p:cNvSpPr/>
          <p:nvPr/>
        </p:nvSpPr>
        <p:spPr>
          <a:xfrm>
            <a:off x="567000" y="3456360"/>
            <a:ext cx="1005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 39"/>
          <p:cNvSpPr/>
          <p:nvPr/>
        </p:nvSpPr>
        <p:spPr>
          <a:xfrm>
            <a:off x="676800" y="348840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T4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0"/>
          <p:cNvSpPr/>
          <p:nvPr/>
        </p:nvSpPr>
        <p:spPr>
          <a:xfrm>
            <a:off x="1572840" y="3456360"/>
            <a:ext cx="20113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 41"/>
          <p:cNvSpPr/>
          <p:nvPr/>
        </p:nvSpPr>
        <p:spPr>
          <a:xfrm>
            <a:off x="1682640" y="348840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2"/>
          <p:cNvSpPr/>
          <p:nvPr/>
        </p:nvSpPr>
        <p:spPr>
          <a:xfrm>
            <a:off x="3584520" y="3456360"/>
            <a:ext cx="58060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 43"/>
          <p:cNvSpPr/>
          <p:nvPr/>
        </p:nvSpPr>
        <p:spPr>
          <a:xfrm>
            <a:off x="3694320" y="348840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Error ADC / puntero inválido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4"/>
          <p:cNvSpPr/>
          <p:nvPr/>
        </p:nvSpPr>
        <p:spPr>
          <a:xfrm>
            <a:off x="9390960" y="3456360"/>
            <a:ext cx="2148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 45"/>
          <p:cNvSpPr/>
          <p:nvPr/>
        </p:nvSpPr>
        <p:spPr>
          <a:xfrm>
            <a:off x="9500760" y="348840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ERROR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6"/>
          <p:cNvSpPr/>
          <p:nvPr/>
        </p:nvSpPr>
        <p:spPr>
          <a:xfrm>
            <a:off x="567000" y="3877200"/>
            <a:ext cx="1005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 47"/>
          <p:cNvSpPr/>
          <p:nvPr/>
        </p:nvSpPr>
        <p:spPr>
          <a:xfrm>
            <a:off x="676800" y="390924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T5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8"/>
          <p:cNvSpPr/>
          <p:nvPr/>
        </p:nvSpPr>
        <p:spPr>
          <a:xfrm>
            <a:off x="1572840" y="3877200"/>
            <a:ext cx="20113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49"/>
          <p:cNvSpPr/>
          <p:nvPr/>
        </p:nvSpPr>
        <p:spPr>
          <a:xfrm>
            <a:off x="1682640" y="390924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50"/>
          <p:cNvSpPr/>
          <p:nvPr/>
        </p:nvSpPr>
        <p:spPr>
          <a:xfrm>
            <a:off x="3584520" y="3877200"/>
            <a:ext cx="58060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 51"/>
          <p:cNvSpPr/>
          <p:nvPr/>
        </p:nvSpPr>
        <p:spPr>
          <a:xfrm>
            <a:off x="3694320" y="390924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Fuera del rango del sensor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52"/>
          <p:cNvSpPr/>
          <p:nvPr/>
        </p:nvSpPr>
        <p:spPr>
          <a:xfrm>
            <a:off x="9390960" y="3877200"/>
            <a:ext cx="2148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 53"/>
          <p:cNvSpPr/>
          <p:nvPr/>
        </p:nvSpPr>
        <p:spPr>
          <a:xfrm>
            <a:off x="9500760" y="390924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ERROR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4"/>
          <p:cNvSpPr/>
          <p:nvPr/>
        </p:nvSpPr>
        <p:spPr>
          <a:xfrm>
            <a:off x="567000" y="4297680"/>
            <a:ext cx="1005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 55"/>
          <p:cNvSpPr/>
          <p:nvPr/>
        </p:nvSpPr>
        <p:spPr>
          <a:xfrm>
            <a:off x="676800" y="432972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T6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6"/>
          <p:cNvSpPr/>
          <p:nvPr/>
        </p:nvSpPr>
        <p:spPr>
          <a:xfrm>
            <a:off x="1572840" y="4297680"/>
            <a:ext cx="20113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 57"/>
          <p:cNvSpPr/>
          <p:nvPr/>
        </p:nvSpPr>
        <p:spPr>
          <a:xfrm>
            <a:off x="1682640" y="432972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8"/>
          <p:cNvSpPr/>
          <p:nvPr/>
        </p:nvSpPr>
        <p:spPr>
          <a:xfrm>
            <a:off x="3584520" y="4297680"/>
            <a:ext cx="58060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 59"/>
          <p:cNvSpPr/>
          <p:nvPr/>
        </p:nvSpPr>
        <p:spPr>
          <a:xfrm>
            <a:off x="3694320" y="432972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Temperatura negativa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60"/>
          <p:cNvSpPr/>
          <p:nvPr/>
        </p:nvSpPr>
        <p:spPr>
          <a:xfrm>
            <a:off x="9390960" y="4297680"/>
            <a:ext cx="2148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 61"/>
          <p:cNvSpPr/>
          <p:nvPr/>
        </p:nvSpPr>
        <p:spPr>
          <a:xfrm>
            <a:off x="9500760" y="432972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ERROR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62"/>
          <p:cNvSpPr/>
          <p:nvPr/>
        </p:nvSpPr>
        <p:spPr>
          <a:xfrm>
            <a:off x="567000" y="4718160"/>
            <a:ext cx="1005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 63"/>
          <p:cNvSpPr/>
          <p:nvPr/>
        </p:nvSpPr>
        <p:spPr>
          <a:xfrm>
            <a:off x="676800" y="475020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T7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64"/>
          <p:cNvSpPr/>
          <p:nvPr/>
        </p:nvSpPr>
        <p:spPr>
          <a:xfrm>
            <a:off x="1572840" y="4718160"/>
            <a:ext cx="20113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 65"/>
          <p:cNvSpPr/>
          <p:nvPr/>
        </p:nvSpPr>
        <p:spPr>
          <a:xfrm>
            <a:off x="1682640" y="475020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CONTROL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6"/>
          <p:cNvSpPr/>
          <p:nvPr/>
        </p:nvSpPr>
        <p:spPr>
          <a:xfrm>
            <a:off x="3584520" y="4718160"/>
            <a:ext cx="58060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 67"/>
          <p:cNvSpPr/>
          <p:nvPr/>
        </p:nvSpPr>
        <p:spPr>
          <a:xfrm>
            <a:off x="3694320" y="475020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Decisión de control realizada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8"/>
          <p:cNvSpPr/>
          <p:nvPr/>
        </p:nvSpPr>
        <p:spPr>
          <a:xfrm>
            <a:off x="9390960" y="4718160"/>
            <a:ext cx="2148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 69"/>
          <p:cNvSpPr/>
          <p:nvPr/>
        </p:nvSpPr>
        <p:spPr>
          <a:xfrm>
            <a:off x="9500760" y="475020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70"/>
          <p:cNvSpPr/>
          <p:nvPr/>
        </p:nvSpPr>
        <p:spPr>
          <a:xfrm>
            <a:off x="567000" y="5139000"/>
            <a:ext cx="1005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 71"/>
          <p:cNvSpPr/>
          <p:nvPr/>
        </p:nvSpPr>
        <p:spPr>
          <a:xfrm>
            <a:off x="676800" y="517104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T8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72"/>
          <p:cNvSpPr/>
          <p:nvPr/>
        </p:nvSpPr>
        <p:spPr>
          <a:xfrm>
            <a:off x="1572840" y="5139000"/>
            <a:ext cx="20113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 73"/>
          <p:cNvSpPr/>
          <p:nvPr/>
        </p:nvSpPr>
        <p:spPr>
          <a:xfrm>
            <a:off x="1682640" y="517104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74"/>
          <p:cNvSpPr/>
          <p:nvPr/>
        </p:nvSpPr>
        <p:spPr>
          <a:xfrm>
            <a:off x="3584520" y="5139000"/>
            <a:ext cx="58060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 75"/>
          <p:cNvSpPr/>
          <p:nvPr/>
        </p:nvSpPr>
        <p:spPr>
          <a:xfrm>
            <a:off x="3694320" y="517104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Datos actualizados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76"/>
          <p:cNvSpPr/>
          <p:nvPr/>
        </p:nvSpPr>
        <p:spPr>
          <a:xfrm>
            <a:off x="9390960" y="5139000"/>
            <a:ext cx="21484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 77"/>
          <p:cNvSpPr/>
          <p:nvPr/>
        </p:nvSpPr>
        <p:spPr>
          <a:xfrm>
            <a:off x="9500760" y="517104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78"/>
          <p:cNvSpPr/>
          <p:nvPr/>
        </p:nvSpPr>
        <p:spPr>
          <a:xfrm>
            <a:off x="567000" y="5559480"/>
            <a:ext cx="1005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 79"/>
          <p:cNvSpPr/>
          <p:nvPr/>
        </p:nvSpPr>
        <p:spPr>
          <a:xfrm>
            <a:off x="676800" y="5591520"/>
            <a:ext cx="813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T9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80"/>
          <p:cNvSpPr/>
          <p:nvPr/>
        </p:nvSpPr>
        <p:spPr>
          <a:xfrm>
            <a:off x="1572840" y="5559480"/>
            <a:ext cx="20113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 81"/>
          <p:cNvSpPr/>
          <p:nvPr/>
        </p:nvSpPr>
        <p:spPr>
          <a:xfrm>
            <a:off x="1682640" y="5591520"/>
            <a:ext cx="18194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ERROR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82"/>
          <p:cNvSpPr/>
          <p:nvPr/>
        </p:nvSpPr>
        <p:spPr>
          <a:xfrm>
            <a:off x="3584520" y="5559480"/>
            <a:ext cx="58060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 83"/>
          <p:cNvSpPr/>
          <p:nvPr/>
        </p:nvSpPr>
        <p:spPr>
          <a:xfrm>
            <a:off x="3694320" y="5591520"/>
            <a:ext cx="56142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Acción segura / reporte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84"/>
          <p:cNvSpPr/>
          <p:nvPr/>
        </p:nvSpPr>
        <p:spPr>
          <a:xfrm>
            <a:off x="9390960" y="5559480"/>
            <a:ext cx="21484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 85"/>
          <p:cNvSpPr/>
          <p:nvPr/>
        </p:nvSpPr>
        <p:spPr>
          <a:xfrm>
            <a:off x="9500760" y="5591520"/>
            <a:ext cx="19566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6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Criterio de cobertura seleccionado: ejecutar cada una de las 9 transiciones al menos una vez.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Diseño STT: cuatro recorridos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Entradas escogidas para activar rutas normal y de error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09 / 21</a:t>
            </a:r>
          </a:p>
        </p:txBody>
      </p:sp>
      <p:sp>
        <p:nvSpPr>
          <p:cNvPr id="303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4" name="Shape 6"/>
          <p:cNvSpPr/>
          <p:nvPr/>
        </p:nvSpPr>
        <p:spPr>
          <a:xfrm>
            <a:off x="621720" y="1792080"/>
            <a:ext cx="5376240" cy="1490040"/>
          </a:xfrm>
          <a:prstGeom prst="roundRect">
            <a:avLst>
              <a:gd name="adj" fmla="val 7362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621720" y="1792080"/>
            <a:ext cx="59040" cy="14900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831960" y="1947600"/>
            <a:ext cx="5010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R1 · Operación normal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831960" y="2377440"/>
            <a:ext cx="49557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499 / 500 ms → 32 °C → activa PA5 → OUTPUT → IDLE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6153840" y="1792080"/>
            <a:ext cx="5376240" cy="1490040"/>
          </a:xfrm>
          <a:prstGeom prst="roundRect">
            <a:avLst>
              <a:gd name="adj" fmla="val 7362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Shape 11"/>
          <p:cNvSpPr/>
          <p:nvPr/>
        </p:nvSpPr>
        <p:spPr>
          <a:xfrm>
            <a:off x="6153840" y="1792080"/>
            <a:ext cx="59040" cy="1490040"/>
          </a:xfrm>
          <a:prstGeom prst="rect">
            <a:avLst/>
          </a:prstGeom>
          <a:solidFill>
            <a:srgbClr val="F4BB69"/>
          </a:solidFill>
          <a:ln w="12700">
            <a:solidFill>
              <a:srgbClr val="F4BB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6364080" y="1947600"/>
            <a:ext cx="5010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R2 · Error de adquisición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6364080" y="2377440"/>
            <a:ext cx="49557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Error ADC → ERROR → desactiva PA5 → IDLE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621720" y="3620880"/>
            <a:ext cx="5376240" cy="1490040"/>
          </a:xfrm>
          <a:prstGeom prst="roundRect">
            <a:avLst>
              <a:gd name="adj" fmla="val 7362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621720" y="3620880"/>
            <a:ext cx="59040" cy="1490040"/>
          </a:xfrm>
          <a:prstGeom prst="rect">
            <a:avLst/>
          </a:prstGeom>
          <a:solidFill>
            <a:srgbClr val="F4BB69"/>
          </a:solidFill>
          <a:ln w="12700">
            <a:solidFill>
              <a:srgbClr val="F4BB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831960" y="3776400"/>
            <a:ext cx="5010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R3 · Fuera de rango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7"/>
          <p:cNvSpPr/>
          <p:nvPr/>
        </p:nvSpPr>
        <p:spPr>
          <a:xfrm>
            <a:off x="831960" y="4206240"/>
            <a:ext cx="49557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Estado MCP9700A_ERROR_OUT_OF_RANGE → ERROR → IDLE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>
            <a:off x="6153840" y="3620880"/>
            <a:ext cx="5376240" cy="1490040"/>
          </a:xfrm>
          <a:prstGeom prst="roundRect">
            <a:avLst>
              <a:gd name="adj" fmla="val 7362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Shape 19"/>
          <p:cNvSpPr/>
          <p:nvPr/>
        </p:nvSpPr>
        <p:spPr>
          <a:xfrm>
            <a:off x="6153840" y="3620880"/>
            <a:ext cx="59040" cy="1490040"/>
          </a:xfrm>
          <a:prstGeom prst="rect">
            <a:avLst/>
          </a:prstGeom>
          <a:solidFill>
            <a:srgbClr val="F4BB69"/>
          </a:solidFill>
          <a:ln w="12700">
            <a:solidFill>
              <a:srgbClr val="F4BB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6364080" y="3776400"/>
            <a:ext cx="5010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R4 · Temperatura negativa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1"/>
          <p:cNvSpPr/>
          <p:nvPr/>
        </p:nvSpPr>
        <p:spPr>
          <a:xfrm>
            <a:off x="6364080" y="4206240"/>
            <a:ext cx="49557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Lectura aceptada de −5 °C → rechazo por aplicación → ERROR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2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Datos de referencia: setpoint 30 °C; histéresis 1 °C; periodo 500 ms.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STT: implementación de la prueba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Código real de la MEF + simuladores de dependencias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10 / 21</a:t>
            </a:r>
          </a:p>
        </p:txBody>
      </p:sp>
      <p:sp>
        <p:nvSpPr>
          <p:cNvPr id="326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Shape 6"/>
          <p:cNvSpPr/>
          <p:nvPr/>
        </p:nvSpPr>
        <p:spPr>
          <a:xfrm>
            <a:off x="658440" y="1801440"/>
            <a:ext cx="5157000" cy="2331360"/>
          </a:xfrm>
          <a:prstGeom prst="roundRect">
            <a:avLst>
              <a:gd name="adj" fmla="val 4706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658440" y="1801440"/>
            <a:ext cx="59040" cy="233136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 8"/>
          <p:cNvSpPr/>
          <p:nvPr/>
        </p:nvSpPr>
        <p:spPr>
          <a:xfrm>
            <a:off x="868680" y="1956960"/>
            <a:ext cx="479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Código bajo prueba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868680" y="2386440"/>
            <a:ext cx="47361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src/sensor_fsm.c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Se conserva la lógica productiva y se invoca sensorFsmUpdate() en cada estado.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0"/>
          <p:cNvSpPr/>
          <p:nvPr/>
        </p:nvSpPr>
        <p:spPr>
          <a:xfrm>
            <a:off x="6108120" y="1801440"/>
            <a:ext cx="5157000" cy="2331360"/>
          </a:xfrm>
          <a:prstGeom prst="roundRect">
            <a:avLst>
              <a:gd name="adj" fmla="val 4706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6108120" y="1801440"/>
            <a:ext cx="59040" cy="233136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 12"/>
          <p:cNvSpPr/>
          <p:nvPr/>
        </p:nvSpPr>
        <p:spPr>
          <a:xfrm>
            <a:off x="6318360" y="1956960"/>
            <a:ext cx="479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Doble de prueba (test harness)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6318360" y="2386440"/>
            <a:ext cx="47361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test/test_stt_sensor.c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Simula HAL_GetTick(), lectura MCP9700A, GPIO PA5, LCD, UART, RTC y memoria.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676800" y="4443840"/>
            <a:ext cx="10551960" cy="932400"/>
          </a:xfrm>
          <a:prstGeom prst="roundRect">
            <a:avLst>
              <a:gd name="adj" fmla="val 16667"/>
            </a:avLst>
          </a:prstGeom>
          <a:solidFill>
            <a:srgbClr val="06101E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 15"/>
          <p:cNvSpPr/>
          <p:nvPr/>
        </p:nvSpPr>
        <p:spPr>
          <a:xfrm>
            <a:off x="914400" y="45993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DC9F"/>
                </a:solidFill>
                <a:effectLst/>
                <a:uFillTx/>
                <a:latin typeface="Consolas"/>
                <a:ea typeface="Consolas"/>
              </a:rPr>
              <a:t>gcc -std=c11 -Wall -Wextra -Iinclude -Isrc src/sensor_fsm.c test/test_stt_sensor.c -o stt_control.exe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6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En Windows, ejecutar_windows.bat automatiza la compilación y ejecución.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STT: resultado de ejecución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Evidencia obtenida desde Visual Studio Code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11 / 21</a:t>
            </a:r>
          </a:p>
        </p:txBody>
      </p:sp>
      <p:sp>
        <p:nvSpPr>
          <p:cNvPr id="343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4" name="Image 0" descr="/mnt/data/image(20261015-222218).png"/>
          <p:cNvPicPr/>
          <p:nvPr/>
        </p:nvPicPr>
        <p:blipFill>
          <a:blip r:embed="rId3"/>
          <a:stretch/>
        </p:blipFill>
        <p:spPr>
          <a:xfrm>
            <a:off x="576000" y="1700640"/>
            <a:ext cx="7497720" cy="416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Shape 6"/>
          <p:cNvSpPr/>
          <p:nvPr/>
        </p:nvSpPr>
        <p:spPr>
          <a:xfrm>
            <a:off x="8284320" y="1828800"/>
            <a:ext cx="3135960" cy="1215720"/>
          </a:xfrm>
          <a:prstGeom prst="roundRect">
            <a:avLst>
              <a:gd name="adj" fmla="val 9023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8284320" y="1828800"/>
            <a:ext cx="59040" cy="121572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8494920" y="1984320"/>
            <a:ext cx="277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9 / 9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8494920" y="2414160"/>
            <a:ext cx="27154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Verificaciones aprobadas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8284320" y="3264480"/>
            <a:ext cx="3135960" cy="1215720"/>
          </a:xfrm>
          <a:prstGeom prst="roundRect">
            <a:avLst>
              <a:gd name="adj" fmla="val 9023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8284320" y="3264480"/>
            <a:ext cx="59040" cy="121572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 12"/>
          <p:cNvSpPr/>
          <p:nvPr/>
        </p:nvSpPr>
        <p:spPr>
          <a:xfrm>
            <a:off x="8494920" y="3420000"/>
            <a:ext cx="277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4 recorridos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8494920" y="3849480"/>
            <a:ext cx="27154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Normal + tres fallos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4"/>
          <p:cNvSpPr/>
          <p:nvPr/>
        </p:nvSpPr>
        <p:spPr>
          <a:xfrm>
            <a:off x="8284320" y="4700160"/>
            <a:ext cx="3135960" cy="1069560"/>
          </a:xfrm>
          <a:prstGeom prst="roundRect">
            <a:avLst>
              <a:gd name="adj" fmla="val 10256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8284320" y="4700160"/>
            <a:ext cx="59040" cy="106956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 16"/>
          <p:cNvSpPr/>
          <p:nvPr/>
        </p:nvSpPr>
        <p:spPr>
          <a:xfrm>
            <a:off x="8494920" y="4855320"/>
            <a:ext cx="277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100 % STT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8494920" y="5285160"/>
            <a:ext cx="2715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Transiciones del modelo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8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Ejecución en PC con hardware simulado: no equivale a ensayo end-to-end sobre STM32.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Pruebas unitarias: driver DS3231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Se evalúa ds3231.c aisladamente de la implementación real I2C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14 / 21</a:t>
            </a:r>
          </a:p>
        </p:txBody>
      </p:sp>
      <p:sp>
        <p:nvSpPr>
          <p:cNvPr id="363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567000" y="1993320"/>
            <a:ext cx="3337200" cy="1947240"/>
          </a:xfrm>
          <a:prstGeom prst="roundRect">
            <a:avLst>
              <a:gd name="adj" fmla="val 5634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5" name="Shape 7"/>
          <p:cNvSpPr/>
          <p:nvPr/>
        </p:nvSpPr>
        <p:spPr>
          <a:xfrm>
            <a:off x="567000" y="1993320"/>
            <a:ext cx="59040" cy="19472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 8"/>
          <p:cNvSpPr/>
          <p:nvPr/>
        </p:nvSpPr>
        <p:spPr>
          <a:xfrm>
            <a:off x="777240" y="2148840"/>
            <a:ext cx="2971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test_ds3231.c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9"/>
          <p:cNvSpPr/>
          <p:nvPr/>
        </p:nvSpPr>
        <p:spPr>
          <a:xfrm>
            <a:off x="777240" y="2578680"/>
            <a:ext cx="291672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El desarrollador define entradas, llamadas esperadas y aserciones Unity.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4416480" y="1993320"/>
            <a:ext cx="3337200" cy="1947240"/>
          </a:xfrm>
          <a:prstGeom prst="roundRect">
            <a:avLst>
              <a:gd name="adj" fmla="val 5634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9" name="Shape 11"/>
          <p:cNvSpPr/>
          <p:nvPr/>
        </p:nvSpPr>
        <p:spPr>
          <a:xfrm>
            <a:off x="4416480" y="1993320"/>
            <a:ext cx="59040" cy="19472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4626720" y="2148840"/>
            <a:ext cx="2971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ds3231.c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4626720" y="2578680"/>
            <a:ext cx="291672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El código real implementa conversión de formatos, lectura y escritura RTC.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8266320" y="1993320"/>
            <a:ext cx="3337200" cy="1947240"/>
          </a:xfrm>
          <a:prstGeom prst="roundRect">
            <a:avLst>
              <a:gd name="adj" fmla="val 5634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8266320" y="1993320"/>
            <a:ext cx="59040" cy="19472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8476560" y="2148840"/>
            <a:ext cx="2971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mock_i2c_drv.c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8476560" y="2578680"/>
            <a:ext cx="291672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CMock genera funciones I2C simuladas desde i2c_drv.h.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8"/>
          <p:cNvSpPr/>
          <p:nvPr/>
        </p:nvSpPr>
        <p:spPr>
          <a:xfrm>
            <a:off x="3913560" y="2962440"/>
            <a:ext cx="466200" cy="360"/>
          </a:xfrm>
          <a:prstGeom prst="line">
            <a:avLst/>
          </a:prstGeom>
          <a:ln w="25400">
            <a:solidFill>
              <a:srgbClr val="24B5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7" name="Shape 19"/>
          <p:cNvSpPr/>
          <p:nvPr/>
        </p:nvSpPr>
        <p:spPr>
          <a:xfrm>
            <a:off x="7763040" y="2962440"/>
            <a:ext cx="457200" cy="360"/>
          </a:xfrm>
          <a:prstGeom prst="line">
            <a:avLst/>
          </a:prstGeom>
          <a:ln w="25400">
            <a:solidFill>
              <a:srgbClr val="24B5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 20"/>
          <p:cNvSpPr/>
          <p:nvPr/>
        </p:nvSpPr>
        <p:spPr>
          <a:xfrm>
            <a:off x="2194560" y="4700160"/>
            <a:ext cx="7909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BDC9F"/>
                </a:solidFill>
                <a:effectLst/>
                <a:uFillTx/>
                <a:latin typeface="Consolas"/>
                <a:ea typeface="Consolas"/>
              </a:rPr>
              <a:t>ceedling test:test_ds3231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1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Ceedling automatiza; Unity verifica; CMock simula y comprueba interacciones I2C.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Pruebas unitarias: casos ejecutados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Nueve casos iniciales; los cuatro adicionales se detallan en la siguiente diapositiva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15 / 21</a:t>
            </a:r>
          </a:p>
        </p:txBody>
      </p:sp>
      <p:sp>
        <p:nvSpPr>
          <p:cNvPr id="385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6" name="Shape 6"/>
          <p:cNvSpPr/>
          <p:nvPr/>
        </p:nvSpPr>
        <p:spPr>
          <a:xfrm>
            <a:off x="567000" y="1737360"/>
            <a:ext cx="109692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 7"/>
          <p:cNvSpPr/>
          <p:nvPr/>
        </p:nvSpPr>
        <p:spPr>
          <a:xfrm>
            <a:off x="676800" y="1801440"/>
            <a:ext cx="8956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"/>
          <p:cNvSpPr/>
          <p:nvPr/>
        </p:nvSpPr>
        <p:spPr>
          <a:xfrm>
            <a:off x="1664280" y="1737360"/>
            <a:ext cx="384012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 9"/>
          <p:cNvSpPr/>
          <p:nvPr/>
        </p:nvSpPr>
        <p:spPr>
          <a:xfrm>
            <a:off x="1774080" y="1801440"/>
            <a:ext cx="3638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Caso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0"/>
          <p:cNvSpPr/>
          <p:nvPr/>
        </p:nvSpPr>
        <p:spPr>
          <a:xfrm>
            <a:off x="5504760" y="1737360"/>
            <a:ext cx="6034680" cy="456840"/>
          </a:xfrm>
          <a:prstGeom prst="rect">
            <a:avLst/>
          </a:prstGeom>
          <a:solidFill>
            <a:srgbClr val="1B3551"/>
          </a:solidFill>
          <a:ln w="635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 11"/>
          <p:cNvSpPr/>
          <p:nvPr/>
        </p:nvSpPr>
        <p:spPr>
          <a:xfrm>
            <a:off x="5614560" y="1801440"/>
            <a:ext cx="5833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Objetivo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2"/>
          <p:cNvSpPr/>
          <p:nvPr/>
        </p:nvSpPr>
        <p:spPr>
          <a:xfrm>
            <a:off x="567000" y="2194560"/>
            <a:ext cx="10969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 13"/>
          <p:cNvSpPr/>
          <p:nvPr/>
        </p:nvSpPr>
        <p:spPr>
          <a:xfrm>
            <a:off x="676800" y="222660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4"/>
          <p:cNvSpPr/>
          <p:nvPr/>
        </p:nvSpPr>
        <p:spPr>
          <a:xfrm>
            <a:off x="1664280" y="2194560"/>
            <a:ext cx="38401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 15"/>
          <p:cNvSpPr/>
          <p:nvPr/>
        </p:nvSpPr>
        <p:spPr>
          <a:xfrm>
            <a:off x="1774080" y="222660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12 h PM → 24 h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6"/>
          <p:cNvSpPr/>
          <p:nvPr/>
        </p:nvSpPr>
        <p:spPr>
          <a:xfrm>
            <a:off x="5504760" y="2194560"/>
            <a:ext cx="60346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 17"/>
          <p:cNvSpPr/>
          <p:nvPr/>
        </p:nvSpPr>
        <p:spPr>
          <a:xfrm>
            <a:off x="5614560" y="222660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03 PM a 15:00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8"/>
          <p:cNvSpPr/>
          <p:nvPr/>
        </p:nvSpPr>
        <p:spPr>
          <a:xfrm>
            <a:off x="567000" y="2615040"/>
            <a:ext cx="10969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19"/>
          <p:cNvSpPr/>
          <p:nvPr/>
        </p:nvSpPr>
        <p:spPr>
          <a:xfrm>
            <a:off x="676800" y="264708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U2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0"/>
          <p:cNvSpPr/>
          <p:nvPr/>
        </p:nvSpPr>
        <p:spPr>
          <a:xfrm>
            <a:off x="1664280" y="2615040"/>
            <a:ext cx="38401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 21"/>
          <p:cNvSpPr/>
          <p:nvPr/>
        </p:nvSpPr>
        <p:spPr>
          <a:xfrm>
            <a:off x="1774080" y="264708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24 h → 12 h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2"/>
          <p:cNvSpPr/>
          <p:nvPr/>
        </p:nvSpPr>
        <p:spPr>
          <a:xfrm>
            <a:off x="5504760" y="2615040"/>
            <a:ext cx="60346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 23"/>
          <p:cNvSpPr/>
          <p:nvPr/>
        </p:nvSpPr>
        <p:spPr>
          <a:xfrm>
            <a:off x="5614560" y="264708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00:00 a 12 AM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4"/>
          <p:cNvSpPr/>
          <p:nvPr/>
        </p:nvSpPr>
        <p:spPr>
          <a:xfrm>
            <a:off x="567000" y="3035880"/>
            <a:ext cx="10969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 25"/>
          <p:cNvSpPr/>
          <p:nvPr/>
        </p:nvSpPr>
        <p:spPr>
          <a:xfrm>
            <a:off x="676800" y="306792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U3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26"/>
          <p:cNvSpPr/>
          <p:nvPr/>
        </p:nvSpPr>
        <p:spPr>
          <a:xfrm>
            <a:off x="1664280" y="3035880"/>
            <a:ext cx="38401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 27"/>
          <p:cNvSpPr/>
          <p:nvPr/>
        </p:nvSpPr>
        <p:spPr>
          <a:xfrm>
            <a:off x="1774080" y="306792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RTC ausente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8"/>
          <p:cNvSpPr/>
          <p:nvPr/>
        </p:nvSpPr>
        <p:spPr>
          <a:xfrm>
            <a:off x="5504760" y="3035880"/>
            <a:ext cx="60346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 29"/>
          <p:cNvSpPr/>
          <p:nvPr/>
        </p:nvSpPr>
        <p:spPr>
          <a:xfrm>
            <a:off x="5614560" y="306792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Disponible = false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30"/>
          <p:cNvSpPr/>
          <p:nvPr/>
        </p:nvSpPr>
        <p:spPr>
          <a:xfrm>
            <a:off x="567000" y="3456360"/>
            <a:ext cx="10969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 31"/>
          <p:cNvSpPr/>
          <p:nvPr/>
        </p:nvSpPr>
        <p:spPr>
          <a:xfrm>
            <a:off x="676800" y="348840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U4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32"/>
          <p:cNvSpPr/>
          <p:nvPr/>
        </p:nvSpPr>
        <p:spPr>
          <a:xfrm>
            <a:off x="1664280" y="3456360"/>
            <a:ext cx="38401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 33"/>
          <p:cNvSpPr/>
          <p:nvPr/>
        </p:nvSpPr>
        <p:spPr>
          <a:xfrm>
            <a:off x="1774080" y="348840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ReadTime 24 h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4"/>
          <p:cNvSpPr/>
          <p:nvPr/>
        </p:nvSpPr>
        <p:spPr>
          <a:xfrm>
            <a:off x="5504760" y="3456360"/>
            <a:ext cx="60346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 35"/>
          <p:cNvSpPr/>
          <p:nvPr/>
        </p:nvSpPr>
        <p:spPr>
          <a:xfrm>
            <a:off x="5614560" y="348840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Decodificación BCD 15:30:45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6"/>
          <p:cNvSpPr/>
          <p:nvPr/>
        </p:nvSpPr>
        <p:spPr>
          <a:xfrm>
            <a:off x="567000" y="3877200"/>
            <a:ext cx="10969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 37"/>
          <p:cNvSpPr/>
          <p:nvPr/>
        </p:nvSpPr>
        <p:spPr>
          <a:xfrm>
            <a:off x="676800" y="390924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U5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8"/>
          <p:cNvSpPr/>
          <p:nvPr/>
        </p:nvSpPr>
        <p:spPr>
          <a:xfrm>
            <a:off x="1664280" y="3877200"/>
            <a:ext cx="38401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 39"/>
          <p:cNvSpPr/>
          <p:nvPr/>
        </p:nvSpPr>
        <p:spPr>
          <a:xfrm>
            <a:off x="1774080" y="390924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ReadTime 12 h PM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0"/>
          <p:cNvSpPr/>
          <p:nvPr/>
        </p:nvSpPr>
        <p:spPr>
          <a:xfrm>
            <a:off x="5504760" y="3877200"/>
            <a:ext cx="60346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 41"/>
          <p:cNvSpPr/>
          <p:nvPr/>
        </p:nvSpPr>
        <p:spPr>
          <a:xfrm>
            <a:off x="5614560" y="390924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Interpretar bit 12 h y PM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42"/>
          <p:cNvSpPr/>
          <p:nvPr/>
        </p:nvSpPr>
        <p:spPr>
          <a:xfrm>
            <a:off x="567000" y="4297680"/>
            <a:ext cx="10969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 43"/>
          <p:cNvSpPr/>
          <p:nvPr/>
        </p:nvSpPr>
        <p:spPr>
          <a:xfrm>
            <a:off x="676800" y="432972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U6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44"/>
          <p:cNvSpPr/>
          <p:nvPr/>
        </p:nvSpPr>
        <p:spPr>
          <a:xfrm>
            <a:off x="1664280" y="4297680"/>
            <a:ext cx="38401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 45"/>
          <p:cNvSpPr/>
          <p:nvPr/>
        </p:nvSpPr>
        <p:spPr>
          <a:xfrm>
            <a:off x="1774080" y="432972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ReadDate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46"/>
          <p:cNvSpPr/>
          <p:nvPr/>
        </p:nvSpPr>
        <p:spPr>
          <a:xfrm>
            <a:off x="5504760" y="4297680"/>
            <a:ext cx="60346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 47"/>
          <p:cNvSpPr/>
          <p:nvPr/>
        </p:nvSpPr>
        <p:spPr>
          <a:xfrm>
            <a:off x="5614560" y="432972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Decodificar fecha BCD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48"/>
          <p:cNvSpPr/>
          <p:nvPr/>
        </p:nvSpPr>
        <p:spPr>
          <a:xfrm>
            <a:off x="567000" y="4718160"/>
            <a:ext cx="10969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 49"/>
          <p:cNvSpPr/>
          <p:nvPr/>
        </p:nvSpPr>
        <p:spPr>
          <a:xfrm>
            <a:off x="676800" y="475020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U7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50"/>
          <p:cNvSpPr/>
          <p:nvPr/>
        </p:nvSpPr>
        <p:spPr>
          <a:xfrm>
            <a:off x="1664280" y="4718160"/>
            <a:ext cx="38401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 51"/>
          <p:cNvSpPr/>
          <p:nvPr/>
        </p:nvSpPr>
        <p:spPr>
          <a:xfrm>
            <a:off x="1774080" y="475020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WriteTime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52"/>
          <p:cNvSpPr/>
          <p:nvPr/>
        </p:nvSpPr>
        <p:spPr>
          <a:xfrm>
            <a:off x="5504760" y="4718160"/>
            <a:ext cx="60346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 53"/>
          <p:cNvSpPr/>
          <p:nvPr/>
        </p:nvSpPr>
        <p:spPr>
          <a:xfrm>
            <a:off x="5614560" y="475020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Enviar 0x45, 0x30, 0x15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54"/>
          <p:cNvSpPr/>
          <p:nvPr/>
        </p:nvSpPr>
        <p:spPr>
          <a:xfrm>
            <a:off x="567000" y="5139000"/>
            <a:ext cx="10969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 55"/>
          <p:cNvSpPr/>
          <p:nvPr/>
        </p:nvSpPr>
        <p:spPr>
          <a:xfrm>
            <a:off x="676800" y="517104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U8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56"/>
          <p:cNvSpPr/>
          <p:nvPr/>
        </p:nvSpPr>
        <p:spPr>
          <a:xfrm>
            <a:off x="1664280" y="5139000"/>
            <a:ext cx="384012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 57"/>
          <p:cNvSpPr/>
          <p:nvPr/>
        </p:nvSpPr>
        <p:spPr>
          <a:xfrm>
            <a:off x="1774080" y="517104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ReadTime(NULL)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58"/>
          <p:cNvSpPr/>
          <p:nvPr/>
        </p:nvSpPr>
        <p:spPr>
          <a:xfrm>
            <a:off x="5504760" y="5139000"/>
            <a:ext cx="6034680" cy="420120"/>
          </a:xfrm>
          <a:prstGeom prst="rect">
            <a:avLst/>
          </a:prstGeom>
          <a:solidFill>
            <a:srgbClr val="14243A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 59"/>
          <p:cNvSpPr/>
          <p:nvPr/>
        </p:nvSpPr>
        <p:spPr>
          <a:xfrm>
            <a:off x="5614560" y="517104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Sin llamada I2C inesperada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60"/>
          <p:cNvSpPr/>
          <p:nvPr/>
        </p:nvSpPr>
        <p:spPr>
          <a:xfrm>
            <a:off x="567000" y="5559480"/>
            <a:ext cx="10969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 61"/>
          <p:cNvSpPr/>
          <p:nvPr/>
        </p:nvSpPr>
        <p:spPr>
          <a:xfrm>
            <a:off x="676800" y="5591520"/>
            <a:ext cx="9050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B5A8"/>
                </a:solidFill>
                <a:effectLst/>
                <a:uFillTx/>
                <a:latin typeface="Aptos"/>
                <a:ea typeface="Aptos"/>
              </a:rPr>
              <a:t>S9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62"/>
          <p:cNvSpPr/>
          <p:nvPr/>
        </p:nvSpPr>
        <p:spPr>
          <a:xfrm>
            <a:off x="1664280" y="5559480"/>
            <a:ext cx="384012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 63"/>
          <p:cNvSpPr/>
          <p:nvPr/>
        </p:nvSpPr>
        <p:spPr>
          <a:xfrm>
            <a:off x="1774080" y="5591520"/>
            <a:ext cx="364824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WriteTime → ReadTime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64"/>
          <p:cNvSpPr/>
          <p:nvPr/>
        </p:nvSpPr>
        <p:spPr>
          <a:xfrm>
            <a:off x="5504760" y="5559480"/>
            <a:ext cx="6034680" cy="420120"/>
          </a:xfrm>
          <a:prstGeom prst="rect">
            <a:avLst/>
          </a:prstGeom>
          <a:solidFill>
            <a:srgbClr val="102039"/>
          </a:solidFill>
          <a:ln w="508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 65"/>
          <p:cNvSpPr/>
          <p:nvPr/>
        </p:nvSpPr>
        <p:spPr>
          <a:xfrm>
            <a:off x="5614560" y="5591520"/>
            <a:ext cx="584280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Secuencia funcional simulada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6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La secuencia S9 no constituye una integración real del controlador con i2c_drv.c.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CB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210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BFB8"/>
                </a:solidFill>
                <a:latin typeface="Aptos"/>
              </a:defRPr>
            </a:pPr>
            <a:r>
              <a:t>FIUBA ·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7FAFE"/>
                </a:solidFill>
                <a:latin typeface="Aptos"/>
              </a:defRPr>
            </a:pPr>
            <a:r>
              <a:t>Ampliación de pruebas unitarias: 10 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35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CCDE0"/>
                </a:solidFill>
                <a:latin typeface="Aptos"/>
              </a:defRPr>
            </a:pPr>
            <a:r>
              <a:t>Casos adicionales para mejorar la cobertura del controlador RTC DS3231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874519"/>
            <a:ext cx="10881360" cy="740664"/>
          </a:xfrm>
          <a:prstGeom prst="roundRect">
            <a:avLst/>
          </a:prstGeom>
          <a:solidFill>
            <a:srgbClr val="152C48"/>
          </a:solidFill>
          <a:ln>
            <a:solidFill>
              <a:srgbClr val="26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9842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BFB8"/>
                </a:solidFill>
                <a:latin typeface="Aptos"/>
              </a:defRPr>
            </a:pPr>
            <a:r>
              <a:t>U10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476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FAFE"/>
                </a:solidFill>
                <a:latin typeface="Aptos"/>
              </a:defRPr>
            </a:pPr>
            <a:r>
              <a:t>Inicialización correcta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984248"/>
            <a:ext cx="6812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CCDE0"/>
                </a:solidFill>
                <a:latin typeface="Aptos"/>
              </a:defRPr>
            </a:pPr>
            <a:r>
              <a:t>Verificar que el RTC queda disponible ante una respuesta I2C satisfactoria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2752344"/>
            <a:ext cx="10881360" cy="740664"/>
          </a:xfrm>
          <a:prstGeom prst="roundRect">
            <a:avLst/>
          </a:prstGeom>
          <a:solidFill>
            <a:srgbClr val="152C48"/>
          </a:solidFill>
          <a:ln>
            <a:solidFill>
              <a:srgbClr val="26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8620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BFB8"/>
                </a:solidFill>
                <a:latin typeface="Aptos"/>
              </a:defRPr>
            </a:pPr>
            <a:r>
              <a:t>U11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2549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FAFE"/>
                </a:solidFill>
                <a:latin typeface="Aptos"/>
              </a:defRPr>
            </a:pPr>
            <a:r>
              <a:t>Escritura de 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862072"/>
            <a:ext cx="6812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CCDE0"/>
                </a:solidFill>
                <a:latin typeface="Aptos"/>
              </a:defRPr>
            </a:pPr>
            <a:r>
              <a:t>Comprobar los cuatro bytes BCD enviados por I2C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" y="3630168"/>
            <a:ext cx="10881360" cy="740664"/>
          </a:xfrm>
          <a:prstGeom prst="roundRect">
            <a:avLst/>
          </a:prstGeom>
          <a:solidFill>
            <a:srgbClr val="152C48"/>
          </a:solidFill>
          <a:ln>
            <a:solidFill>
              <a:srgbClr val="26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7398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BFB8"/>
                </a:solidFill>
                <a:latin typeface="Aptos"/>
              </a:defRPr>
            </a:pPr>
            <a:r>
              <a:t>U12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0332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FAFE"/>
                </a:solidFill>
                <a:latin typeface="Aptos"/>
              </a:defRPr>
            </a:pPr>
            <a:r>
              <a:t>Temperatura interna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739896"/>
            <a:ext cx="6812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CCDE0"/>
                </a:solidFill>
                <a:latin typeface="Aptos"/>
              </a:defRPr>
            </a:pPr>
            <a:r>
              <a:t>Simular y comprobar la lectura de 25,25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" y="4507992"/>
            <a:ext cx="10881360" cy="740664"/>
          </a:xfrm>
          <a:prstGeom prst="roundRect">
            <a:avLst/>
          </a:prstGeom>
          <a:solidFill>
            <a:srgbClr val="152C48"/>
          </a:solidFill>
          <a:ln>
            <a:solidFill>
              <a:srgbClr val="26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617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BFB8"/>
                </a:solidFill>
                <a:latin typeface="Aptos"/>
              </a:defRPr>
            </a:pPr>
            <a:r>
              <a:t>U13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811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FAFE"/>
                </a:solidFill>
                <a:latin typeface="Aptos"/>
              </a:defRPr>
            </a:pPr>
            <a:r>
              <a:t>Fallo de lectura I2C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617720"/>
            <a:ext cx="6812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CCDE0"/>
                </a:solidFill>
                <a:latin typeface="Aptos"/>
              </a:defRPr>
            </a:pPr>
            <a:r>
              <a:t>Verificar estado no disponible y conservación de datos ante un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2414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BFB8"/>
                </a:solidFill>
                <a:latin typeface="Aptos"/>
              </a:defRPr>
            </a:pPr>
            <a:r>
              <a:t>Resultado registrado: 13/13 pruebas aprobadas; cobertura de líneas 72,3 % y funciones 100 %.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CCDE0"/>
                </a:solidFill>
                <a:latin typeface="Aptos"/>
              </a:defRPr>
            </a:pPr>
            <a:r>
              <a:t>CMock sustituye la capa I2C: estas pruebas no validan la comunicación con hardware físico.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0232" y="65653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16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C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4632" y="2194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4C5BA"/>
                </a:solidFill>
                <a:latin typeface="Aptos"/>
              </a:defRPr>
            </a:pPr>
            <a:r>
              <a:t>FIUBA  · 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Caso unitario 1 · Conversión de 12 h a 24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129844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8C7D7"/>
                </a:solidFill>
                <a:latin typeface="Aptos"/>
              </a:defRPr>
            </a:pPr>
            <a:r>
              <a:t>Objetivo: comprobar la lógica de conversión del registro horario del DS3231.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37960"/>
            <a:ext cx="11082528" cy="10972"/>
          </a:xfrm>
          <a:prstGeom prst="rect">
            <a:avLst/>
          </a:prstGeom>
          <a:solidFill>
            <a:srgbClr val="425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17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883664"/>
            <a:ext cx="6446520" cy="4251960"/>
          </a:xfrm>
          <a:prstGeom prst="round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2057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4C5BA"/>
                </a:solidFill>
                <a:latin typeface="Aptos"/>
              </a:defRPr>
            </a:pPr>
            <a:r>
              <a:t>CÓDIGO REAL EN test_ds3231.c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542032"/>
            <a:ext cx="5961888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void test_1_ApplyHourFormat_12h_PM_a_24h(void)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uint8_t hour12pm = 0x03u | 0x40u | 0x20u;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uint8_t hour24;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hour24 = DS3231_ApplyHourFormat(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    hour12pm, DS3231_FORMAT_24H);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TEST_ASSERT_EQUAL_HEX8(0x15u, hour24);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TEST_ASSERT_EQUAL_HEX8(0x00u,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                       hour24 &amp; 0x40u);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6056" y="1883664"/>
            <a:ext cx="4288536" cy="4251960"/>
          </a:xfrm>
          <a:prstGeom prst="round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2066543"/>
            <a:ext cx="3730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4C5BA"/>
                </a:solidFill>
                <a:latin typeface="Aptos"/>
              </a:defRPr>
            </a:pPr>
            <a:r>
              <a:t>DISEÑO DEL CASO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2578608"/>
            <a:ext cx="3639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B853"/>
                </a:solidFill>
                <a:latin typeface="Aptos"/>
              </a:defRPr>
            </a:pPr>
            <a:r>
              <a:t>ENTRADA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898648"/>
            <a:ext cx="36210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0x63: 03 horas, bit 12 h activo y bit PM activo.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602736"/>
            <a:ext cx="3639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B853"/>
                </a:solidFill>
                <a:latin typeface="Aptos"/>
              </a:defRPr>
            </a:pPr>
            <a:r>
              <a:t>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922776"/>
            <a:ext cx="36210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Aplicar DS3231_ApplyHourFormat() solicitando 24 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4626864"/>
            <a:ext cx="3639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B853"/>
                </a:solidFill>
                <a:latin typeface="Aptos"/>
              </a:defRPr>
            </a:pPr>
            <a:r>
              <a:t>SALIDA ESPERADA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4946904"/>
            <a:ext cx="36210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0x15 (15 horas BCD) y bit 6 desactivado.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4C5BA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413248"/>
            <a:ext cx="1965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BD397"/>
                </a:solidFill>
                <a:latin typeface="Aptos"/>
              </a:defRPr>
            </a:pPr>
            <a:r>
              <a:t>PASS · Unity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C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4632" y="2194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4C5BA"/>
                </a:solidFill>
                <a:latin typeface="Aptos"/>
              </a:defRPr>
            </a:pPr>
            <a:r>
              <a:t>FIUBA  · 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F4F8FC"/>
                </a:solidFill>
                <a:latin typeface="Aptos"/>
              </a:defRPr>
            </a:pPr>
            <a:r>
              <a:t>Caso unitario 2 · RTC no disponible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129844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8C7D7"/>
                </a:solidFill>
                <a:latin typeface="Aptos"/>
              </a:defRPr>
            </a:pPr>
            <a:r>
              <a:t>Objetivo: verificar el manejo de fallo cuando el DS3231 no responde por I2C.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37960"/>
            <a:ext cx="11082528" cy="10972"/>
          </a:xfrm>
          <a:prstGeom prst="rect">
            <a:avLst/>
          </a:prstGeom>
          <a:solidFill>
            <a:srgbClr val="425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18 /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883664"/>
            <a:ext cx="6446520" cy="4251960"/>
          </a:xfrm>
          <a:prstGeom prst="round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2057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4C5BA"/>
                </a:solidFill>
                <a:latin typeface="Aptos"/>
              </a:defRPr>
            </a:pPr>
            <a:r>
              <a:t>CÓDIGO REAL EN test_ds3231.c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542032"/>
            <a:ext cx="5961888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void test_3_Init_sin_dispositivo_queda_no_disponible(void)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i2cDeviceReady_ExpectAndReturn(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    DS3231_ADDR, false);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DS3231_Init(DS3231_FORMAT_24H);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TEST_ASSERT_FALSE(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      DS3231_IsAvailable());</a:t>
            </a:r>
          </a:p>
          <a:p>
            <a:pPr>
              <a:spcAft>
                <a:spcPts val="300"/>
              </a:spcAft>
              <a:defRPr sz="1600" b="0">
                <a:solidFill>
                  <a:srgbClr val="F4F8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6056" y="1883664"/>
            <a:ext cx="4288536" cy="4251960"/>
          </a:xfrm>
          <a:prstGeom prst="round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2066543"/>
            <a:ext cx="3730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4C5BA"/>
                </a:solidFill>
                <a:latin typeface="Aptos"/>
              </a:defRPr>
            </a:pPr>
            <a:r>
              <a:t>DISEÑO DEL CASO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2578608"/>
            <a:ext cx="3639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B853"/>
                </a:solidFill>
                <a:latin typeface="Aptos"/>
              </a:defRPr>
            </a:pPr>
            <a:r>
              <a:t>PRECONDICIÓN (CMOCK)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898648"/>
            <a:ext cx="36210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La consulta i2cDeviceReady() debe devolver false.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602736"/>
            <a:ext cx="3639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B853"/>
                </a:solidFill>
                <a:latin typeface="Aptos"/>
              </a:defRPr>
            </a:pPr>
            <a:r>
              <a:t>ACCIÓN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922776"/>
            <a:ext cx="36210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Ejecutar DS3231_Init() en formato de 24 horas.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4626864"/>
            <a:ext cx="3639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B853"/>
                </a:solidFill>
                <a:latin typeface="Aptos"/>
              </a:defRPr>
            </a:pPr>
            <a:r>
              <a:t>VERIFICACIÓN (UNITY)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4946904"/>
            <a:ext cx="36210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DS3231_IsAvailable() debe devolver false.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54406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4C5BA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413248"/>
            <a:ext cx="1965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BD397"/>
                </a:solidFill>
                <a:latin typeface="Aptos"/>
              </a:defRPr>
            </a:pPr>
            <a:r>
              <a:t>PASS · Unity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6B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6BFB5"/>
                </a:solidFill>
              </a:defRPr>
            </a:pPr>
            <a:r>
              <a:t>FIUBA  · 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8FAFC"/>
                </a:solidFill>
              </a:defRPr>
            </a:pPr>
            <a:r>
              <a:t>Ejecución de pruebas unitarias con Ceedling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50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6C7D8"/>
                </a:solidFill>
              </a:defRPr>
            </a:pPr>
            <a:r>
              <a:rPr dirty="0" err="1"/>
              <a:t>Módulo</a:t>
            </a:r>
            <a:r>
              <a:rPr dirty="0"/>
              <a:t> bajo </a:t>
            </a:r>
            <a:r>
              <a:rPr dirty="0" err="1"/>
              <a:t>prueba</a:t>
            </a:r>
            <a:r>
              <a:rPr dirty="0"/>
              <a:t>: driver RTC DS3231 · </a:t>
            </a:r>
            <a:r>
              <a:rPr dirty="0" err="1"/>
              <a:t>Archivo</a:t>
            </a:r>
            <a:r>
              <a:rPr dirty="0"/>
              <a:t> test_ds3231.c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96596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6BFB5"/>
                </a:solidFill>
              </a:defRPr>
            </a:pPr>
            <a:r>
              <a:t>¿QUÉ SE PROBÓ?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432304"/>
            <a:ext cx="387705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8FAFC"/>
                </a:solidFill>
              </a:defRPr>
            </a:pPr>
            <a:r>
              <a:t>Conversiones de formato horario, lectura y escritura BCD, detección de dispositivo ausente y manejo de puntero NULL.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0050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6BFB5"/>
                </a:solidFill>
              </a:defRPr>
            </a:pPr>
            <a:r>
              <a:t>HERRAMIENTAS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425696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8FAFC"/>
                </a:solidFill>
              </a:defRPr>
            </a:pPr>
            <a:r>
              <a:t>Ceedling: automatiza</a:t>
            </a:r>
          </a:p>
          <a:p>
            <a:pPr>
              <a:spcAft>
                <a:spcPts val="1000"/>
              </a:spcAft>
              <a:defRPr sz="1600" b="0">
                <a:solidFill>
                  <a:srgbClr val="F8FAFC"/>
                </a:solidFill>
              </a:defRPr>
            </a:pPr>
            <a:r>
              <a:t>Unity: verifica resultados</a:t>
            </a:r>
          </a:p>
          <a:p>
            <a:pPr>
              <a:spcAft>
                <a:spcPts val="1000"/>
              </a:spcAft>
              <a:defRPr sz="1600" b="0">
                <a:solidFill>
                  <a:srgbClr val="F8FAFC"/>
                </a:solidFill>
              </a:defRPr>
            </a:pPr>
            <a:r>
              <a:t>CMock: simula el bus I2C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5508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6BFB5"/>
                </a:solidFill>
              </a:defRPr>
            </a:pPr>
            <a:r>
              <a:rPr dirty="0"/>
              <a:t>RESULTADO: </a:t>
            </a:r>
            <a:r>
              <a:rPr lang="es-ES" dirty="0"/>
              <a:t>13</a:t>
            </a:r>
            <a:r>
              <a:rPr dirty="0"/>
              <a:t> </a:t>
            </a:r>
            <a:r>
              <a:rPr dirty="0" err="1"/>
              <a:t>ejecutadas</a:t>
            </a:r>
            <a:r>
              <a:rPr dirty="0"/>
              <a:t> · </a:t>
            </a:r>
            <a:r>
              <a:rPr lang="es-ES" dirty="0"/>
              <a:t>13</a:t>
            </a:r>
            <a:r>
              <a:rPr dirty="0"/>
              <a:t> </a:t>
            </a:r>
            <a:r>
              <a:rPr dirty="0" err="1"/>
              <a:t>aprobadas</a:t>
            </a:r>
            <a:r>
              <a:rPr dirty="0"/>
              <a:t> · 0 </a:t>
            </a:r>
            <a:r>
              <a:rPr dirty="0" err="1"/>
              <a:t>fallidas</a:t>
            </a:r>
            <a:endParaRPr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F9F2BCB-E8C8-8093-415D-B3D2E93D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5" y="1595628"/>
            <a:ext cx="7150884" cy="46412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6B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6BFB5"/>
                </a:solidFill>
              </a:defRPr>
            </a:pPr>
            <a:r>
              <a:t>FIUBA  · 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8FAFC"/>
                </a:solidFill>
              </a:defRPr>
            </a:pPr>
            <a:r>
              <a:t>Cobertura del código DS3231 con GCOVR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B6C7D8"/>
                </a:solidFill>
              </a:defRPr>
            </a:pPr>
            <a:r>
              <a:t>La aprobación de pruebas no garantiza que todo el código haya sido ejecutado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6BFB5"/>
                </a:solidFill>
              </a:defRPr>
            </a:pPr>
            <a:r>
              <a:t>COBERTURA MEDIDA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68880"/>
            <a:ext cx="3502152" cy="122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rPr lang="es-ES" dirty="0"/>
              <a:t>72</a:t>
            </a:r>
            <a:r>
              <a:rPr dirty="0"/>
              <a:t>,</a:t>
            </a:r>
            <a:r>
              <a:rPr lang="es-ES" dirty="0"/>
              <a:t>3</a:t>
            </a:r>
            <a:r>
              <a:rPr dirty="0"/>
              <a:t> %  </a:t>
            </a:r>
            <a:r>
              <a:rPr dirty="0" err="1"/>
              <a:t>Líneas</a:t>
            </a:r>
            <a:r>
              <a:rPr dirty="0"/>
              <a:t> (</a:t>
            </a:r>
            <a:r>
              <a:rPr lang="es-ES" dirty="0"/>
              <a:t>99</a:t>
            </a:r>
            <a:r>
              <a:rPr dirty="0"/>
              <a:t>/137)</a:t>
            </a:r>
          </a:p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rPr lang="es-ES" dirty="0"/>
              <a:t>100.0</a:t>
            </a:r>
            <a:r>
              <a:rPr dirty="0"/>
              <a:t> %  </a:t>
            </a:r>
            <a:r>
              <a:rPr dirty="0" err="1"/>
              <a:t>Funciones</a:t>
            </a:r>
            <a:r>
              <a:rPr dirty="0"/>
              <a:t> (1</a:t>
            </a:r>
            <a:r>
              <a:rPr lang="es-ES" dirty="0"/>
              <a:t>3</a:t>
            </a:r>
            <a:r>
              <a:rPr dirty="0"/>
              <a:t>/13)</a:t>
            </a:r>
          </a:p>
          <a:p>
            <a:pPr>
              <a:spcAft>
                <a:spcPts val="1000"/>
              </a:spcAft>
              <a:defRPr sz="1900" b="1">
                <a:solidFill>
                  <a:srgbClr val="F8FAFC"/>
                </a:solidFill>
              </a:defRPr>
            </a:pPr>
            <a:r>
              <a:rPr lang="es-ES" dirty="0"/>
              <a:t>52</a:t>
            </a:r>
            <a:r>
              <a:rPr dirty="0"/>
              <a:t>,</a:t>
            </a:r>
            <a:r>
              <a:rPr lang="es-ES" dirty="0"/>
              <a:t>7</a:t>
            </a:r>
            <a:r>
              <a:rPr dirty="0"/>
              <a:t> %  Ramas (</a:t>
            </a:r>
            <a:r>
              <a:rPr lang="es-ES" dirty="0"/>
              <a:t>39</a:t>
            </a:r>
            <a:r>
              <a:rPr dirty="0"/>
              <a:t>/74)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46268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6BFB5"/>
                </a:solidFill>
              </a:defRPr>
            </a:pPr>
            <a:r>
              <a:t>INTERPRETACIÓN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5001768"/>
            <a:ext cx="34015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 13 casos aprobaron y se ejecutaron las 13 funciones; aún faltan líneas y ramas de decisión por recorrer.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825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B6C7D8"/>
                </a:solidFill>
              </a:defRPr>
            </a:pPr>
            <a:r>
              <a:t>Alcance: ds3231.c instrumentado; I2C reemplazado por CMock.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0DA25C2-186E-060E-EB44-46DF7A83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" y="1701652"/>
            <a:ext cx="7228979" cy="44888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0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 1"/>
          <p:cNvSpPr/>
          <p:nvPr/>
        </p:nvSpPr>
        <p:spPr>
          <a:xfrm>
            <a:off x="457200" y="20124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24B5A8"/>
                </a:solidFill>
                <a:effectLst/>
                <a:uFillTx/>
                <a:latin typeface="Calibri"/>
              </a:rPr>
              <a:t>FIUBA · TESTING DE SOFTWARE DE SISTEMAS EMBEBIDOS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"/>
          <p:cNvSpPr/>
          <p:nvPr/>
        </p:nvSpPr>
        <p:spPr>
          <a:xfrm>
            <a:off x="502920" y="658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Resultados y conclusiones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3"/>
          <p:cNvSpPr/>
          <p:nvPr/>
        </p:nvSpPr>
        <p:spPr>
          <a:xfrm>
            <a:off x="521280" y="1316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6BACF"/>
                </a:solidFill>
                <a:effectLst/>
                <a:uFillTx/>
                <a:latin typeface="Calibri"/>
              </a:rPr>
              <a:t>Qué quedó verificado y qué falta validar sobre hardware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4"/>
          <p:cNvSpPr/>
          <p:nvPr/>
        </p:nvSpPr>
        <p:spPr>
          <a:xfrm>
            <a:off x="11000232" y="6583680"/>
            <a:ext cx="777240" cy="1737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21 / 21</a:t>
            </a:r>
          </a:p>
        </p:txBody>
      </p:sp>
      <p:sp>
        <p:nvSpPr>
          <p:cNvPr id="473" name="Shape 5"/>
          <p:cNvSpPr/>
          <p:nvPr/>
        </p:nvSpPr>
        <p:spPr>
          <a:xfrm>
            <a:off x="502920" y="6418800"/>
            <a:ext cx="11064240" cy="360"/>
          </a:xfrm>
          <a:prstGeom prst="line">
            <a:avLst/>
          </a:prstGeom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4" name="Shape 6"/>
          <p:cNvSpPr/>
          <p:nvPr/>
        </p:nvSpPr>
        <p:spPr>
          <a:xfrm>
            <a:off x="649080" y="1938600"/>
            <a:ext cx="5211720" cy="1919880"/>
          </a:xfrm>
          <a:prstGeom prst="roundRect">
            <a:avLst>
              <a:gd name="adj" fmla="val 5714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5" name="Shape 7"/>
          <p:cNvSpPr/>
          <p:nvPr/>
        </p:nvSpPr>
        <p:spPr>
          <a:xfrm>
            <a:off x="649080" y="1938600"/>
            <a:ext cx="59040" cy="191988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6" name="Text 8"/>
          <p:cNvSpPr/>
          <p:nvPr/>
        </p:nvSpPr>
        <p:spPr>
          <a:xfrm>
            <a:off x="859680" y="20941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STT: 9 / 9 transiciones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9"/>
          <p:cNvSpPr/>
          <p:nvPr/>
        </p:nvSpPr>
        <p:spPr>
          <a:xfrm>
            <a:off x="859680" y="2523600"/>
            <a:ext cx="4791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Cuatro recorridos aprobados con sensor, tiempo y GPIO simulados; cobertura completa del modelo definido.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0"/>
          <p:cNvSpPr/>
          <p:nvPr/>
        </p:nvSpPr>
        <p:spPr>
          <a:xfrm>
            <a:off x="6153840" y="1938600"/>
            <a:ext cx="5211720" cy="1919880"/>
          </a:xfrm>
          <a:prstGeom prst="roundRect">
            <a:avLst>
              <a:gd name="adj" fmla="val 5714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9" name="Shape 11"/>
          <p:cNvSpPr/>
          <p:nvPr/>
        </p:nvSpPr>
        <p:spPr>
          <a:xfrm>
            <a:off x="6153840" y="1938600"/>
            <a:ext cx="59040" cy="1919880"/>
          </a:xfrm>
          <a:prstGeom prst="rect">
            <a:avLst/>
          </a:prstGeom>
          <a:solidFill>
            <a:srgbClr val="24B5A8"/>
          </a:solidFill>
          <a:ln w="12700">
            <a:solidFill>
              <a:srgbClr val="24B5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0" name="Text 12"/>
          <p:cNvSpPr/>
          <p:nvPr/>
        </p:nvSpPr>
        <p:spPr>
          <a:xfrm>
            <a:off x="6364080" y="20941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Ceedling: 13 / 13 pruebas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3"/>
          <p:cNvSpPr/>
          <p:nvPr/>
        </p:nvSpPr>
        <p:spPr>
          <a:xfrm>
            <a:off x="6364080" y="2523600"/>
            <a:ext cx="4791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Las 13 pruebas del DS3231 aprobaron. La interfaz I2C fue simulada mediante CMock.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4"/>
          <p:cNvSpPr/>
          <p:nvPr/>
        </p:nvSpPr>
        <p:spPr>
          <a:xfrm>
            <a:off x="649080" y="4224600"/>
            <a:ext cx="10716480" cy="1298160"/>
          </a:xfrm>
          <a:prstGeom prst="roundRect">
            <a:avLst>
              <a:gd name="adj" fmla="val 8451"/>
            </a:avLst>
          </a:prstGeom>
          <a:solidFill>
            <a:srgbClr val="14243A"/>
          </a:solidFill>
          <a:ln w="12700">
            <a:solidFill>
              <a:srgbClr val="3144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3" name="Shape 15"/>
          <p:cNvSpPr/>
          <p:nvPr/>
        </p:nvSpPr>
        <p:spPr>
          <a:xfrm>
            <a:off x="649080" y="4224600"/>
            <a:ext cx="59040" cy="1298160"/>
          </a:xfrm>
          <a:prstGeom prst="rect">
            <a:avLst/>
          </a:prstGeom>
          <a:solidFill>
            <a:srgbClr val="F4BB69"/>
          </a:solidFill>
          <a:ln w="12700">
            <a:solidFill>
              <a:srgbClr val="F4BB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 16"/>
          <p:cNvSpPr/>
          <p:nvPr/>
        </p:nvSpPr>
        <p:spPr>
          <a:xfrm>
            <a:off x="859680" y="4380120"/>
            <a:ext cx="10350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Siguiente nivel de validación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7"/>
          <p:cNvSpPr/>
          <p:nvPr/>
        </p:nvSpPr>
        <p:spPr>
          <a:xfrm>
            <a:off x="859680" y="4809600"/>
            <a:ext cx="102956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Integración real con I2C y ejecución sobre STM32: lectura física, respuesta temporal y control del actuador.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8"/>
          <p:cNvSpPr/>
          <p:nvPr/>
        </p:nvSpPr>
        <p:spPr>
          <a:xfrm>
            <a:off x="530280" y="607176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6BACF"/>
                </a:solidFill>
                <a:effectLst/>
                <a:uFillTx/>
                <a:latin typeface="Aptos"/>
                <a:ea typeface="Aptos"/>
              </a:rPr>
              <a:t>Resultado de pruebas ≠ ausencia total de defectos · Evidencia válida para los escenarios ejecutados.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C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01168"/>
            <a:ext cx="10058400" cy="30175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100" b="1">
                <a:solidFill>
                  <a:srgbClr val="1BC7BC"/>
                </a:solidFill>
                <a:latin typeface="Aptos"/>
              </a:defRPr>
            </a:pPr>
            <a:r>
              <a:t>FIUBA ·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7607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2800" b="1">
                <a:solidFill>
                  <a:srgbClr val="F2F6F9"/>
                </a:solidFill>
                <a:latin typeface="Aptos"/>
              </a:defRPr>
            </a:pPr>
            <a:r>
              <a:t>STT: resultados de los cuatro recorridos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500" b="0">
                <a:solidFill>
                  <a:srgbClr val="B1C2CF"/>
                </a:solidFill>
                <a:latin typeface="Aptos"/>
              </a:defRPr>
            </a:pPr>
            <a:r>
              <a:t>Comparación entre estímulo, respuesta esperada y comportamiento observado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38528"/>
            <a:ext cx="10972800" cy="493776"/>
          </a:xfrm>
          <a:prstGeom prst="roundRect">
            <a:avLst/>
          </a:prstGeom>
          <a:solidFill>
            <a:srgbClr val="1B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11680" cy="34747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100" b="1">
                <a:solidFill>
                  <a:srgbClr val="1BC7BC"/>
                </a:solidFill>
                <a:latin typeface="Aptos"/>
              </a:defRPr>
            </a:pPr>
            <a:r>
              <a:t>RECORRIDO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11680"/>
            <a:ext cx="2788920" cy="34747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100" b="1">
                <a:solidFill>
                  <a:srgbClr val="1BC7BC"/>
                </a:solidFill>
                <a:latin typeface="Aptos"/>
              </a:defRPr>
            </a:pPr>
            <a:r>
              <a:t>ESTÍMULO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2011680"/>
            <a:ext cx="4937760" cy="34747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100" b="1">
                <a:solidFill>
                  <a:srgbClr val="1BC7BC"/>
                </a:solidFill>
                <a:latin typeface="Aptos"/>
              </a:defRPr>
            </a:pPr>
            <a:r>
              <a:t>RESULTADO OBSERVADO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2011680"/>
            <a:ext cx="822960" cy="34747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100" b="1">
                <a:solidFill>
                  <a:srgbClr val="1BC7BC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23744"/>
            <a:ext cx="10972800" cy="704088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01168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R1 · 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51760"/>
            <a:ext cx="278892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32 °C; SP 30 °C; H 1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651760"/>
            <a:ext cx="49377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PA5 activada; salida actualizada y retorno a IDLE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2651760"/>
            <a:ext cx="8229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1">
                <a:solidFill>
                  <a:srgbClr val="1BC7B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91839"/>
            <a:ext cx="10972800" cy="704088"/>
          </a:xfrm>
          <a:prstGeom prst="round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19856"/>
            <a:ext cx="201168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R2 · Error ADC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419856"/>
            <a:ext cx="278892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Fallo de lectura ADC*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3419856"/>
            <a:ext cx="49377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Transición a ERROR; PA5 desactivada y fallo reportado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3419856"/>
            <a:ext cx="8229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1">
                <a:solidFill>
                  <a:srgbClr val="1BC7B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59935"/>
            <a:ext cx="10972800" cy="704088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87951"/>
            <a:ext cx="201168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R3 · Fuera de rango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87951"/>
            <a:ext cx="278892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Error de rango informado por sensor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4187951"/>
            <a:ext cx="49377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Transición a ERROR y reporte de falla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4187951"/>
            <a:ext cx="8229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1">
                <a:solidFill>
                  <a:srgbClr val="1BC7B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28031"/>
            <a:ext cx="10972800" cy="704088"/>
          </a:xfrm>
          <a:prstGeom prst="round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56047"/>
            <a:ext cx="201168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R4 · Negativa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956047"/>
            <a:ext cx="278892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Lectura válida de −5 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7568" y="4956047"/>
            <a:ext cx="49377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0">
                <a:solidFill>
                  <a:srgbClr val="F2F6F9"/>
                </a:solidFill>
                <a:latin typeface="Aptos"/>
              </a:defRPr>
            </a:pPr>
            <a:r>
              <a:t>Lectura rechazada por aplicación; ERROR y aviso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4956047"/>
            <a:ext cx="822960" cy="512064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200" b="1">
                <a:solidFill>
                  <a:srgbClr val="1BC7B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789920" cy="5029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300" b="0">
                <a:solidFill>
                  <a:srgbClr val="B1C2CF"/>
                </a:solidFill>
                <a:latin typeface="Aptos"/>
              </a:defRPr>
            </a:pPr>
            <a:r>
              <a:t>9 verificaciones aprobadas · 4 recorridos · Fallos simulados de adquisición, rango y temperatura negativa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63640"/>
            <a:ext cx="10698480" cy="34747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000" b="0">
                <a:solidFill>
                  <a:srgbClr val="B1C2CF"/>
                </a:solidFill>
                <a:latin typeface="Aptos"/>
              </a:defRPr>
            </a:pPr>
            <a:r>
              <a:t>* La falla corresponde a la lectura del sensor y se simula en el entorno de pruebas, sin periféricos físicos.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5952" y="6492240"/>
            <a:ext cx="822960" cy="21031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000" b="0">
                <a:solidFill>
                  <a:srgbClr val="B1C2CF"/>
                </a:solidFill>
                <a:latin typeface="Aptos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C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01168"/>
            <a:ext cx="10058400" cy="30175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100" b="1">
                <a:solidFill>
                  <a:srgbClr val="1BC7BC"/>
                </a:solidFill>
                <a:latin typeface="Aptos"/>
              </a:defRPr>
            </a:pPr>
            <a:r>
              <a:t>FIUBA · TESTING DE SOFTWARE DE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7607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2800" b="1">
                <a:solidFill>
                  <a:srgbClr val="F2F6F9"/>
                </a:solidFill>
                <a:latin typeface="Aptos"/>
              </a:defRPr>
            </a:pPr>
            <a:r>
              <a:t>STT: interpretación y cobertura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500" b="0">
                <a:solidFill>
                  <a:srgbClr val="B1C2CF"/>
                </a:solidFill>
                <a:latin typeface="Aptos"/>
              </a:defRPr>
            </a:pPr>
            <a:r>
              <a:t>Qué demuestran los resultados y cuáles son sus límites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3456432" cy="1417320"/>
          </a:xfrm>
          <a:prstGeom prst="roundRect">
            <a:avLst/>
          </a:prstGeom>
          <a:solidFill>
            <a:srgbClr val="182D48"/>
          </a:solidFill>
          <a:ln w="15875">
            <a:solidFill>
              <a:srgbClr val="1BC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163824" cy="5943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 algn="ctr">
              <a:defRPr sz="3100" b="1">
                <a:solidFill>
                  <a:srgbClr val="F2F6F9"/>
                </a:solidFill>
                <a:latin typeface="Aptos"/>
              </a:defRPr>
            </a:pPr>
            <a:r>
              <a:t>9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3108960" cy="31089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 algn="ctr">
              <a:defRPr sz="1300" b="0">
                <a:solidFill>
                  <a:srgbClr val="B1C2CF"/>
                </a:solidFill>
                <a:latin typeface="Aptos"/>
              </a:defRPr>
            </a:pPr>
            <a:r>
              <a:t>Transiciones verificadas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1847088"/>
            <a:ext cx="3456432" cy="1417320"/>
          </a:xfrm>
          <a:prstGeom prst="roundRect">
            <a:avLst/>
          </a:prstGeom>
          <a:solidFill>
            <a:srgbClr val="182D48"/>
          </a:solidFill>
          <a:ln w="15875">
            <a:solidFill>
              <a:srgbClr val="1BC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011680"/>
            <a:ext cx="3163824" cy="5943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 algn="ctr">
              <a:defRPr sz="3100" b="1">
                <a:solidFill>
                  <a:srgbClr val="F2F6F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34056"/>
            <a:ext cx="3108960" cy="31089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 algn="ctr">
              <a:defRPr sz="1300" b="0">
                <a:solidFill>
                  <a:srgbClr val="B1C2CF"/>
                </a:solidFill>
                <a:latin typeface="Aptos"/>
              </a:defRPr>
            </a:pPr>
            <a:r>
              <a:t>Recorridos ejecutados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1847088"/>
            <a:ext cx="3456432" cy="1417320"/>
          </a:xfrm>
          <a:prstGeom prst="roundRect">
            <a:avLst/>
          </a:prstGeom>
          <a:solidFill>
            <a:srgbClr val="182D48"/>
          </a:solidFill>
          <a:ln w="15875">
            <a:solidFill>
              <a:srgbClr val="1BC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011680"/>
            <a:ext cx="3163824" cy="5943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 algn="ctr">
              <a:defRPr sz="3100" b="1">
                <a:solidFill>
                  <a:srgbClr val="F2F6F9"/>
                </a:solidFill>
                <a:latin typeface="Aptos"/>
              </a:defRPr>
            </a:pPr>
            <a: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34056"/>
            <a:ext cx="3108960" cy="31089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 algn="ctr">
              <a:defRPr sz="1300" b="0">
                <a:solidFill>
                  <a:srgbClr val="B1C2CF"/>
                </a:solidFill>
                <a:latin typeface="Aptos"/>
              </a:defRPr>
            </a:pPr>
            <a:r>
              <a:t>Cobertura del modelo STT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566160"/>
            <a:ext cx="5212080" cy="2240280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94760"/>
            <a:ext cx="4663440" cy="41148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600" b="1">
                <a:solidFill>
                  <a:srgbClr val="1BC7BC"/>
                </a:solidFill>
                <a:latin typeface="Aptos"/>
              </a:defRPr>
            </a:pPr>
            <a:r>
              <a:t>QUÉ QUEDÓ VERIFICADO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334256"/>
            <a:ext cx="4590288" cy="11887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400" b="0">
                <a:solidFill>
                  <a:srgbClr val="F2F6F9"/>
                </a:solidFill>
                <a:latin typeface="Aptos"/>
              </a:defRPr>
            </a:pPr>
            <a:r>
              <a:t>• Ciclo normal: IDLE → READ → CONTROL → OUTPUT</a:t>
            </a:r>
          </a:p>
          <a:p>
            <a:pPr>
              <a:defRPr sz="1400" b="0">
                <a:solidFill>
                  <a:srgbClr val="F2F6F9"/>
                </a:solidFill>
                <a:latin typeface="Aptos"/>
              </a:defRPr>
            </a:pPr>
            <a:r>
              <a:t>• Reacción ante fallo ADC y lectura inválida</a:t>
            </a:r>
          </a:p>
          <a:p>
            <a:pPr>
              <a:defRPr sz="1400" b="0">
                <a:solidFill>
                  <a:srgbClr val="F2F6F9"/>
                </a:solidFill>
                <a:latin typeface="Aptos"/>
              </a:defRPr>
            </a:pPr>
            <a:r>
              <a:t>• Desactivación de PA5 en estado 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212080" cy="2240280"/>
          </a:xfrm>
          <a:prstGeom prst="round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794760"/>
            <a:ext cx="4709160" cy="41148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600" b="1">
                <a:solidFill>
                  <a:srgbClr val="FAB752"/>
                </a:solidFill>
                <a:latin typeface="Aptos"/>
              </a:defRPr>
            </a:pPr>
            <a:r>
              <a:t>LÍMITES DE LA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334256"/>
            <a:ext cx="4617720" cy="122529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400" b="0">
                <a:solidFill>
                  <a:srgbClr val="F2F6F9"/>
                </a:solidFill>
                <a:latin typeface="Aptos"/>
              </a:defRPr>
            </a:pPr>
            <a:r>
              <a:t>• Sensores, tiempo y GPIO simulados en PC</a:t>
            </a:r>
          </a:p>
          <a:p>
            <a:pPr>
              <a:defRPr sz="1400" b="0">
                <a:solidFill>
                  <a:srgbClr val="F2F6F9"/>
                </a:solidFill>
                <a:latin typeface="Aptos"/>
              </a:defRPr>
            </a:pPr>
            <a:r>
              <a:t>• No mide cobertura de líneas del firmware</a:t>
            </a:r>
          </a:p>
          <a:p>
            <a:pPr>
              <a:defRPr sz="1400" b="0">
                <a:solidFill>
                  <a:srgbClr val="F2F6F9"/>
                </a:solidFill>
                <a:latin typeface="Aptos"/>
              </a:defRPr>
            </a:pPr>
            <a:r>
              <a:t>• No reemplaza validación física del STM32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6071616"/>
            <a:ext cx="10789920" cy="402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300" b="0">
                <a:solidFill>
                  <a:srgbClr val="B1C2CF"/>
                </a:solidFill>
                <a:latin typeface="Aptos"/>
              </a:defRPr>
            </a:pPr>
            <a:r>
              <a:t>Conclusión: se cubrieron todas las transiciones identificadas, pero no se demuestra ausencia total de defectos.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492240"/>
            <a:ext cx="822960" cy="210312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defRPr sz="1000" b="0">
                <a:solidFill>
                  <a:srgbClr val="B1C2CF"/>
                </a:solidFill>
                <a:latin typeface="Aptos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2077</Words>
  <Application>Microsoft Office PowerPoint</Application>
  <PresentationFormat>Panorámica</PresentationFormat>
  <Paragraphs>365</Paragraphs>
  <Slides>19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Consolas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CARLOSQL</dc:creator>
  <cp:lastModifiedBy>CARLOS QUISPE LOPEZ</cp:lastModifiedBy>
  <cp:revision>1</cp:revision>
  <dcterms:modified xsi:type="dcterms:W3CDTF">2026-10-16T00:09:58Z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2026-10-15T22:24:51Z</dcterms:created>
  <dc:creator>OpenAI</dc:creator>
  <dc:description/>
  <dc:language>en-US</dc:language>
  <cp:lastModifiedBy>OpenAI</cp:lastModifiedBy>
  <dcterms:modified xsi:type="dcterms:W3CDTF">2026-10-15T22:24:51Z</dcterms:modified>
  <cp:revision>1</cp:revision>
  <dc:subject>Testing software embebido STM32</dc:subject>
  <dc:title>Testing de software – Control de temperatura STM32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